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0182E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VORLDX EMPLOYEE ATTENDANCE SYSTEM</a:t>
            </a:r>
          </a:p>
          <a:p>
            <a:pPr algn="ctr">
              <a:defRPr sz="1800">
                <a:solidFill>
                  <a:srgbClr val="00E5FF"/>
                </a:solidFill>
              </a:defRPr>
            </a:pPr>
            <a:r>
              <a:t>Enterprise Architecture, Telemetry, and Complete Functional Specification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926080"/>
            <a:ext cx="6309360" cy="457200"/>
          </a:xfrm>
          <a:prstGeom prst="roundRect">
            <a:avLst/>
          </a:prstGeom>
          <a:solidFill>
            <a:srgbClr val="1C2C52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React 18  •  React Native &amp; Expo 58  •  Node.js &amp; Express  •  MongoDB Atlas  •  Dynamic QR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E5FF"/>
                </a:solidFill>
              </a:defRPr>
            </a:pPr>
            <a:r>
              <a:t>VorldX Industries Private Limited  |  CIN: U62099UP2026PTC245598</a:t>
            </a:r>
          </a:p>
          <a:p>
            <a:pPr algn="ctr">
              <a:defRPr sz="1150">
                <a:solidFill>
                  <a:srgbClr val="94A3B8"/>
                </a:solidFill>
              </a:defRPr>
            </a:pPr>
            <a:r>
              <a:t>Headquarters: Lucknow, Uttar Pradesh, India  •  Official Contact: hello@vorldx.com</a:t>
            </a:r>
          </a:p>
          <a:p>
            <a:pPr algn="ctr">
              <a:defRPr sz="1200" b="1">
                <a:solidFill>
                  <a:srgbClr val="10B981"/>
                </a:solidFill>
              </a:defRPr>
            </a:pPr>
            <a:r>
              <a:t>Comprehensive 45-Page Architectural Review &amp; Product Showcase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COMPANY BACKGROUND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02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Corporate Profile &amp; Executive 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ORGANIZATION DNA &amp;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Company Name: </a:t>
            </a:r>
            <a:r>
              <a:rPr sz="1000">
                <a:solidFill>
                  <a:srgbClr val="CBD5E1"/>
                </a:solidFill>
              </a:rPr>
              <a:t>VorldX Industries Private Limited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Corporate Identity (CIN): </a:t>
            </a:r>
            <a:r>
              <a:rPr sz="1000">
                <a:solidFill>
                  <a:srgbClr val="CBD5E1"/>
                </a:solidFill>
              </a:rPr>
              <a:t>U62099UP2026PTC245598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Headquarters: </a:t>
            </a:r>
            <a:r>
              <a:rPr sz="1000">
                <a:solidFill>
                  <a:srgbClr val="CBD5E1"/>
                </a:solidFill>
              </a:rPr>
              <a:t>Lucknow, Uttar Pradesh, India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Global Support: </a:t>
            </a:r>
            <a:r>
              <a:rPr sz="1000">
                <a:solidFill>
                  <a:srgbClr val="CBD5E1"/>
                </a:solidFill>
              </a:rPr>
              <a:t>hello@vorldx.com / contact@vorldx.com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Industry Domain: </a:t>
            </a:r>
            <a:r>
              <a:rPr sz="1000">
                <a:solidFill>
                  <a:srgbClr val="CBD5E1"/>
                </a:solidFill>
              </a:rPr>
              <a:t>Next-Gen Enterprise SaaS &amp; Workforce Intelligence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Core Mandate: </a:t>
            </a:r>
            <a:r>
              <a:rPr sz="1000">
                <a:solidFill>
                  <a:srgbClr val="CBD5E1"/>
                </a:solidFill>
              </a:rPr>
              <a:t>Eliminate proxy punches, establish verifiable cryptographic attendance, and empower hybrid workforce flexibility.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EXECUTIVE PRODUCT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Zero-Trust Verification: </a:t>
            </a:r>
            <a:r>
              <a:rPr sz="1000">
                <a:solidFill>
                  <a:srgbClr val="CBD5E1"/>
                </a:solidFill>
              </a:rPr>
              <a:t>Eliminate buddy punching and static badge copying using 18s rotating dynamic tokens.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Multi-Role Governance: </a:t>
            </a:r>
            <a:r>
              <a:rPr sz="1000">
                <a:solidFill>
                  <a:srgbClr val="CBD5E1"/>
                </a:solidFill>
              </a:rPr>
              <a:t>Clear separation between Super Admin, HR Admin, Employee, and Kiosk.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Timezone Rigor: </a:t>
            </a:r>
            <a:r>
              <a:rPr sz="1000">
                <a:solidFill>
                  <a:srgbClr val="CBD5E1"/>
                </a:solidFill>
              </a:rPr>
              <a:t>Hardened Indian Standard Time (IST) schedule with strict 09:30 AM cutoff and automated late tracking.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Hybrid Flexibility: </a:t>
            </a:r>
            <a:r>
              <a:rPr sz="1000">
                <a:solidFill>
                  <a:srgbClr val="CBD5E1"/>
                </a:solidFill>
              </a:rPr>
              <a:t>Regulated 5-employee/day WFH quota with two-tier managerial review.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Audit Compliance: </a:t>
            </a:r>
            <a:r>
              <a:rPr sz="1000">
                <a:solidFill>
                  <a:srgbClr val="CBD5E1"/>
                </a:solidFill>
              </a:rPr>
              <a:t>Forensic immutable audit logging for all manual punches and attendance adjustments.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PROBLEM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03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Enterprise Challenge: Legacy Attendance Pitfalls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1. STATIC PUNCH VULNERABILITIES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Buddy Punching: </a:t>
            </a:r>
            <a:r>
              <a:rPr sz="1000">
                <a:solidFill>
                  <a:srgbClr val="CBD5E1"/>
                </a:solidFill>
              </a:rPr>
              <a:t>Co-workers clocking in for absent colleagues via shared RFID tags or PINs.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Static QR Photocopies: </a:t>
            </a:r>
            <a:r>
              <a:rPr sz="1000">
                <a:solidFill>
                  <a:srgbClr val="CBD5E1"/>
                </a:solidFill>
              </a:rPr>
              <a:t>Employees photographing static QR posters to check in remotely from parking lots or cafes.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No Identity Assurance: </a:t>
            </a:r>
            <a:r>
              <a:rPr sz="1000">
                <a:solidFill>
                  <a:srgbClr val="CBD5E1"/>
                </a:solidFill>
              </a:rPr>
              <a:t>Lack of biometric or device cryptographic linkage.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2. HYBRID WORKFORCE 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Unregulated WFH Chaos: </a:t>
            </a:r>
            <a:r>
              <a:rPr sz="1000">
                <a:solidFill>
                  <a:srgbClr val="CBD5E1"/>
                </a:solidFill>
              </a:rPr>
              <a:t>Uncontrolled remote days leading to empty physical offices and communication voids.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Messy Email Threads: </a:t>
            </a:r>
            <a:r>
              <a:rPr sz="1000">
                <a:solidFill>
                  <a:srgbClr val="CBD5E1"/>
                </a:solidFill>
              </a:rPr>
              <a:t>Leave requests lost across chats and inboxes with no real-time quota visibility.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Inflexible Cutoffs: </a:t>
            </a:r>
            <a:r>
              <a:rPr sz="1000">
                <a:solidFill>
                  <a:srgbClr val="CBD5E1"/>
                </a:solidFill>
              </a:rPr>
              <a:t>No automated distinction between punctual staff and chronic latecomers.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3. ADMINISTRATIVE OVERHEAD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Manual Excel Aggregations: </a:t>
            </a:r>
            <a:r>
              <a:rPr sz="1000">
                <a:solidFill>
                  <a:srgbClr val="CBD5E1"/>
                </a:solidFill>
              </a:rPr>
              <a:t>HR spending dozens of hours monthly consolidating punch logs and fixing discrepancies.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Audit Non-Compliance: </a:t>
            </a:r>
            <a:r>
              <a:rPr sz="1000">
                <a:solidFill>
                  <a:srgbClr val="CBD5E1"/>
                </a:solidFill>
              </a:rPr>
              <a:t>Unverified manual corrections lacking tamper-evident audit logs.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Disjointed Systems: </a:t>
            </a:r>
            <a:r>
              <a:rPr sz="1000">
                <a:solidFill>
                  <a:srgbClr val="CBD5E1"/>
                </a:solidFill>
              </a:rPr>
              <a:t>Mobile apps, admin dashboards, and office displays operating on disconnected databases.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SOLUTION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04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Strategic Solution Vision &amp;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468880" cy="109728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2468880" cy="950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E5FF"/>
                </a:solidFill>
              </a:defRPr>
            </a:pPr>
            <a:r>
              <a:t>18s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Dynamic QR Life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63040"/>
            <a:ext cx="2468880" cy="109728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36192"/>
            <a:ext cx="2468880" cy="950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09:30 AM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IST Late Cutoff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468880" cy="109728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36192"/>
            <a:ext cx="2468880" cy="950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</a:defRPr>
            </a:pPr>
            <a:r>
              <a:t>5 / Day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Max WFH Quota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463040"/>
            <a:ext cx="2468880" cy="109728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536192"/>
            <a:ext cx="2468880" cy="950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Audited Corrections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43200"/>
            <a:ext cx="5212080" cy="34747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274320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THREE COORDINATED ECOSYSTEM CLIENTS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00400"/>
            <a:ext cx="49377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1. Office QR Display (Kiosk): </a:t>
            </a:r>
            <a:r>
              <a:rPr sz="1000">
                <a:solidFill>
                  <a:srgbClr val="CBD5E1"/>
                </a:solidFill>
              </a:rPr>
              <a:t>Dedicated reception screen generating dynamic tokens, laser scanning beam, countdown timer.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2. Employee Mobile App: </a:t>
            </a:r>
            <a:r>
              <a:rPr sz="1000">
                <a:solidFill>
                  <a:srgbClr val="CBD5E1"/>
                </a:solidFill>
              </a:rPr>
              <a:t>React Native / Expo app for camera scanning, live shift telemetry, WFH/leave requests, profile uploads.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3. Admin Web Console: </a:t>
            </a:r>
            <a:r>
              <a:rPr sz="1000">
                <a:solidFill>
                  <a:srgbClr val="CBD5E1"/>
                </a:solidFill>
              </a:rPr>
              <a:t>React 18 + Vite dashboard for HR directories, live attendance sheets, WFH approvals, and policy engines.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5212080" cy="34747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274320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CORE ARCHITECTURAL STRENGTHS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200400"/>
            <a:ext cx="49377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Cryptographic Session Tokens: </a:t>
            </a:r>
            <a:r>
              <a:rPr sz="1000">
                <a:solidFill>
                  <a:srgbClr val="CBD5E1"/>
                </a:solidFill>
              </a:rPr>
              <a:t>Tokens auto-expire every 18 seconds via MongoDB TTL indexes preventing replay.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Dual-Layer Managerial Approvals: </a:t>
            </a:r>
            <a:r>
              <a:rPr sz="1000">
                <a:solidFill>
                  <a:srgbClr val="CBD5E1"/>
                </a:solidFill>
              </a:rPr>
              <a:t>WFH requests undergo HR review followed by Super Admin confirmation.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Single Source of Truth: </a:t>
            </a:r>
            <a:r>
              <a:rPr sz="1000">
                <a:solidFill>
                  <a:srgbClr val="CBD5E1"/>
                </a:solidFill>
              </a:rPr>
              <a:t>Centralized MongoDB persistent cluster synchronizing web, app, and kiosk in real-time.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05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High-Level Enterprise Architecture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TIER 1: CLIENT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Admin Web App: </a:t>
            </a:r>
            <a:r>
              <a:rPr sz="1000">
                <a:solidFill>
                  <a:srgbClr val="CBD5E1"/>
                </a:solidFill>
              </a:rPr>
              <a:t>React 18, Vite, Lucide Icons, Recharts, Tailwind CSS. Consumes REST APIs with JWT Bearer auth.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Employee Mobile Client: </a:t>
            </a:r>
            <a:r>
              <a:rPr sz="1000">
                <a:solidFill>
                  <a:srgbClr val="CBD5E1"/>
                </a:solidFill>
              </a:rPr>
              <a:t>React Native 0.76, Expo 58, Camera Module, AsyncStorage, Vector Icons.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Reception Kiosk Screen: </a:t>
            </a:r>
            <a:r>
              <a:rPr sz="1000">
                <a:solidFill>
                  <a:srgbClr val="CBD5E1"/>
                </a:solidFill>
              </a:rPr>
              <a:t>Dedicated wall-mounted terminal running continuous 18s rolling token generator.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TIER 2: BUSINESS LOGIC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REST API Router: </a:t>
            </a:r>
            <a:r>
              <a:rPr sz="1000">
                <a:solidFill>
                  <a:srgbClr val="CBD5E1"/>
                </a:solidFill>
              </a:rPr>
              <a:t>Node.js &amp; Express.js with CORS, JSON body parsers, express-rate-limiters.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Policy Evaluator: </a:t>
            </a:r>
            <a:r>
              <a:rPr sz="1000">
                <a:solidFill>
                  <a:srgbClr val="CBD5E1"/>
                </a:solidFill>
              </a:rPr>
              <a:t>Strict IST time computation enforcing 09:30 AM boundary and late classification.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QR Cryptographic Engine: </a:t>
            </a:r>
            <a:r>
              <a:rPr sz="1000">
                <a:solidFill>
                  <a:srgbClr val="CBD5E1"/>
                </a:solidFill>
              </a:rPr>
              <a:t>Random 256-bit token generator with TTL expiration and replay detection.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WFH Quota Engine: </a:t>
            </a:r>
            <a:r>
              <a:rPr sz="1000">
                <a:solidFill>
                  <a:srgbClr val="CBD5E1"/>
                </a:solidFill>
              </a:rPr>
              <a:t>Concurrent active count query ensuring max 5 approved employees per day.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Forensic Audit Engine: </a:t>
            </a:r>
            <a:r>
              <a:rPr sz="1000">
                <a:solidFill>
                  <a:srgbClr val="CBD5E1"/>
                </a:solidFill>
              </a:rPr>
              <a:t>Immutable logging service for all manual overrides.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TIER 3: PERSISTENCE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Database Engine: </a:t>
            </a:r>
            <a:r>
              <a:rPr sz="1000">
                <a:solidFill>
                  <a:srgbClr val="CBD5E1"/>
                </a:solidFill>
              </a:rPr>
              <a:t>MongoDB Atlas / Replica Set with Mongoose ODM.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Document Models: </a:t>
            </a:r>
            <a:r>
              <a:rPr sz="1000">
                <a:solidFill>
                  <a:srgbClr val="CBD5E1"/>
                </a:solidFill>
              </a:rPr>
              <a:t>9 distinct Schemas with strict type validations and pre-save hooks.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Indexing Strategy: </a:t>
            </a:r>
            <a:r>
              <a:rPr sz="1000">
                <a:solidFill>
                  <a:srgbClr val="CBD5E1"/>
                </a:solidFill>
              </a:rPr>
              <a:t>Unique compound indexes (employee, date) to prevent duplicate check-ins.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TTL Indexes: </a:t>
            </a:r>
            <a:r>
              <a:rPr sz="1000">
                <a:solidFill>
                  <a:srgbClr val="CBD5E1"/>
                </a:solidFill>
              </a:rPr>
              <a:t>Self-cleaning QR session tokens with 18-second auto-expiry.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Asset Storage: </a:t>
            </a:r>
            <a:r>
              <a:rPr sz="1000">
                <a:solidFill>
                  <a:srgbClr val="CBD5E1"/>
                </a:solidFill>
              </a:rPr>
              <a:t>Local file storage for employee profile avatars under /uploads/avatars.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06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Technology Stack &amp; Tooling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Layer / Domain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Primary Framework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Supporting Libraries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Core Purpose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Web Frontend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React 18 + Vite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Tailwind CSS, Lucide React, Recharts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Super Admin &amp; HR administrative console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Mobile App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React Native + Expo 58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Expo Camera, AsyncStorage, Vector Icons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Cross-platform iOS &amp; Android employee client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Backend API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Node.js + Express.js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cors, dotenv, express-rate-limit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RESTful business logic and security middleware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MongoDB (Atlas/Replica)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Mongoose 8.x ODM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Persistent multi-collection document store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Security / Crypto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JWT (jsonwebtoken)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bcryptjs (12 salt rounds)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Stateless authorization &amp; password hashing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DevOps &amp; Tooling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Metro Bundler, npm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Git, PowerShell Automation, ESLint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Build pipelines, zero comment enforcement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SECURITY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07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Security &amp; Cryptographic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IDENTITY &amp; AUTHENTICATION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Stateless JWT Tokens: </a:t>
            </a:r>
            <a:r>
              <a:rPr sz="1000">
                <a:solidFill>
                  <a:srgbClr val="CBD5E1"/>
                </a:solidFill>
              </a:rPr>
              <a:t>Cryptographically signed JSON Web Tokens containing userId, role, and expiration timestamp.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bcrypt Cost Factor 12: </a:t>
            </a:r>
            <a:r>
              <a:rPr sz="1000">
                <a:solidFill>
                  <a:srgbClr val="CBD5E1"/>
                </a:solidFill>
              </a:rPr>
              <a:t>All passwords hashed using 12 salt rounds against rainbow table attacks.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Strict .env Credential Binding: </a:t>
            </a:r>
            <a:r>
              <a:rPr sz="1000">
                <a:solidFill>
                  <a:srgbClr val="CBD5E1"/>
                </a:solidFill>
              </a:rPr>
              <a:t>Super Admin credentials exclusively governed by environment variables (ADMIN_ID, ADMIN_PASS).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Role Authorization Guards: </a:t>
            </a:r>
            <a:r>
              <a:rPr sz="1000">
                <a:solidFill>
                  <a:srgbClr val="CBD5E1"/>
                </a:solidFill>
              </a:rPr>
              <a:t>Middleware `allowRoles('SUPER_ADMIN')` blocking unauthorized endpoints with HTTP 403.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Simulated &amp; Dynamic OTP: </a:t>
            </a:r>
            <a:r>
              <a:rPr sz="1000">
                <a:solidFill>
                  <a:srgbClr val="CBD5E1"/>
                </a:solidFill>
              </a:rPr>
              <a:t>Encrypted ephemeral OTPs with strict 10-minute validity and attempt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ANTI-SPOOFING &amp; REPLAY MITIGATION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18-Second Rolling QR Tokens: </a:t>
            </a:r>
            <a:r>
              <a:rPr sz="1000">
                <a:solidFill>
                  <a:srgbClr val="CBD5E1"/>
                </a:solidFill>
              </a:rPr>
              <a:t>Each session token contains unique cryptographic entropy valid for only 18 seconds.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Single-Use Invalidation: </a:t>
            </a:r>
            <a:r>
              <a:rPr sz="1000">
                <a:solidFill>
                  <a:srgbClr val="CBD5E1"/>
                </a:solidFill>
              </a:rPr>
              <a:t>When consumed during check-in, token is immediately marked `used: true`.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Replay Attack Rejection: </a:t>
            </a:r>
            <a:r>
              <a:rPr sz="1000">
                <a:solidFill>
                  <a:srgbClr val="CBD5E1"/>
                </a:solidFill>
              </a:rPr>
              <a:t>Any re-submission of an expired or used token returns immediate HTTP 400 Bad Request.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Compound Index Lock: </a:t>
            </a:r>
            <a:r>
              <a:rPr sz="1000">
                <a:solidFill>
                  <a:srgbClr val="CBD5E1"/>
                </a:solidFill>
              </a:rPr>
              <a:t>MongoDB unique compound index on `(employee, date)` makes duplicate punches physically impossible.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Rate Limiting: </a:t>
            </a:r>
            <a:r>
              <a:rPr sz="1000">
                <a:solidFill>
                  <a:srgbClr val="CBD5E1"/>
                </a:solidFill>
              </a:rPr>
              <a:t>Express rate-limit protects auth and punch endpoints against brute-force attacks.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ACCESS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08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Multi-Role RBAC Matrix: Permissions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Functional Capability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Super Admin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HR Admin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Kiosk Display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System Policy Configuration (Cutoffs, WFH limit)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READ ONLY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HR Admin Provisioning &amp; Deactivation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EXCLUSIVE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FORBIDDEN (403)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FORBIDDEN (403)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Employee Directory Management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READ ONLY (Self)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Attendance Correction (Manual Override + Audit)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READ / SUBMIT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WFH Request Approvals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FINAL APPROVAL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STAGE 1 REVIEW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APPLY ONLY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Dynamic QR Code Check-In / Check-Out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CAMERA SCAN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QR RENDER ONLY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Forensic Audit Trail Inspection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VIEW LOGS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DATA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09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Database Architecture Blueprint: 9 Core Collections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IDENTITY &amp; DIRECTORY COLLECTIONS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User: </a:t>
            </a:r>
            <a:r>
              <a:rPr sz="1000">
                <a:solidFill>
                  <a:srgbClr val="CBD5E1"/>
                </a:solidFill>
              </a:rPr>
              <a:t>Core authentication identity with email, passwordHash, role, avatar, active status.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Employee: </a:t>
            </a:r>
            <a:r>
              <a:rPr sz="1000">
                <a:solidFill>
                  <a:srgbClr val="CBD5E1"/>
                </a:solidFill>
              </a:rPr>
              <a:t>Workforce metadata linked to User: employeeId, department, designation, shift, phone.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AuditLog: </a:t>
            </a:r>
            <a:r>
              <a:rPr sz="1000">
                <a:solidFill>
                  <a:srgbClr val="CBD5E1"/>
                </a:solidFill>
              </a:rPr>
              <a:t>Immutable audit collection capturing actor, action, target entity, timestamp, IP address.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OPERATIONS &amp; 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Attendance: </a:t>
            </a:r>
            <a:r>
              <a:rPr sz="1000">
                <a:solidFill>
                  <a:srgbClr val="CBD5E1"/>
                </a:solidFill>
              </a:rPr>
              <a:t>Daily records: date, status, mode, checkIn, checkOut, checkInMethod, auditHistory.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WfhRequest: </a:t>
            </a:r>
            <a:r>
              <a:rPr sz="1000">
                <a:solidFill>
                  <a:srgbClr val="CBD5E1"/>
                </a:solidFill>
              </a:rPr>
              <a:t>Remote work applications: startDate, endDate, wfhType, status, hrApprovedBy, adminApprovedBy.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LeaveRequest: </a:t>
            </a:r>
            <a:r>
              <a:rPr sz="1000">
                <a:solidFill>
                  <a:srgbClr val="CBD5E1"/>
                </a:solidFill>
              </a:rPr>
              <a:t>Time-off records: leaveType (Casual/Sick/Earned), date range, status, reason.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GOVERNANCE &amp; SYSTEM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QrSession: </a:t>
            </a:r>
            <a:r>
              <a:rPr sz="1000">
                <a:solidFill>
                  <a:srgbClr val="CBD5E1"/>
                </a:solidFill>
              </a:rPr>
              <a:t>Rolling 18-second tokens with TTL index on expiresAt, used flags, and location metadata.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AttendancePolicy: </a:t>
            </a:r>
            <a:r>
              <a:rPr sz="1000">
                <a:solidFill>
                  <a:srgbClr val="CBD5E1"/>
                </a:solidFill>
              </a:rPr>
              <a:t>Singleton document for officeStartTime (09:00), cutoff (09:30), maxWfhPerDay (5).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Notification: </a:t>
            </a:r>
            <a:r>
              <a:rPr sz="1000">
                <a:solidFill>
                  <a:srgbClr val="CBD5E1"/>
                </a:solidFill>
              </a:rPr>
              <a:t>System broadcasts, targeted alerts, and read receipt arrays.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DATA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10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 Entity Deep-Dive: User &amp; Employee Directory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SCHEMA: USER (AUTHENTICATION ENTITY)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name: </a:t>
            </a:r>
            <a:r>
              <a:rPr sz="1000">
                <a:solidFill>
                  <a:srgbClr val="CBD5E1"/>
                </a:solidFill>
              </a:rPr>
              <a:t>String, required, trimmed corporate full name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email: </a:t>
            </a:r>
            <a:r>
              <a:rPr sz="1000">
                <a:solidFill>
                  <a:srgbClr val="CBD5E1"/>
                </a:solidFill>
              </a:rPr>
              <a:t>String, required, unique index, lowercase, case-insensitive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passwordHash: </a:t>
            </a:r>
            <a:r>
              <a:rPr sz="1000">
                <a:solidFill>
                  <a:srgbClr val="CBD5E1"/>
                </a:solidFill>
              </a:rPr>
              <a:t>String, required, bcrypt hash with 12 salt rounds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role: </a:t>
            </a:r>
            <a:r>
              <a:rPr sz="1000">
                <a:solidFill>
                  <a:srgbClr val="CBD5E1"/>
                </a:solidFill>
              </a:rPr>
              <a:t>Enum: ['SUPER_ADMIN', 'HR_ADMIN', 'EMPLOYEE']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avatar: </a:t>
            </a:r>
            <a:r>
              <a:rPr sz="1000">
                <a:solidFill>
                  <a:srgbClr val="CBD5E1"/>
                </a:solidFill>
              </a:rPr>
              <a:t>String, URL path to stored profile picture in /uploads/avatars/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active: </a:t>
            </a:r>
            <a:r>
              <a:rPr sz="1000">
                <a:solidFill>
                  <a:srgbClr val="CBD5E1"/>
                </a:solidFill>
              </a:rPr>
              <a:t>Boolean, default: true; prevents deactivated accounts from logging in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createdAt / updatedAt: </a:t>
            </a:r>
            <a:r>
              <a:rPr sz="1000">
                <a:solidFill>
                  <a:srgbClr val="CBD5E1"/>
                </a:solidFill>
              </a:rPr>
              <a:t>Auto-managed timestamps for lifecycle auditing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SCHEMA: EMPLOYEE (CORPORATE PROFILE)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user: </a:t>
            </a:r>
            <a:r>
              <a:rPr sz="1000">
                <a:solidFill>
                  <a:srgbClr val="CBD5E1"/>
                </a:solidFill>
              </a:rPr>
              <a:t>ObjectId referencing User model (1-to-1 relationship)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employeeId: </a:t>
            </a:r>
            <a:r>
              <a:rPr sz="1000">
                <a:solidFill>
                  <a:srgbClr val="CBD5E1"/>
                </a:solidFill>
              </a:rPr>
              <a:t>String, required, unique index (e.g. 'VX-EMP-001')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department: </a:t>
            </a:r>
            <a:r>
              <a:rPr sz="1000">
                <a:solidFill>
                  <a:srgbClr val="CBD5E1"/>
                </a:solidFill>
              </a:rPr>
              <a:t>Enum: Engineering, Product, HR, Finance, Operations, Sales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designation: </a:t>
            </a:r>
            <a:r>
              <a:rPr sz="1000">
                <a:solidFill>
                  <a:srgbClr val="CBD5E1"/>
                </a:solidFill>
              </a:rPr>
              <a:t>String, organizational title (e.g. Senior Full-Stack Engineer)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phone: </a:t>
            </a:r>
            <a:r>
              <a:rPr sz="1000">
                <a:solidFill>
                  <a:srgbClr val="CBD5E1"/>
                </a:solidFill>
              </a:rPr>
              <a:t>String, registered mobile number used for OTP authentication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shift: </a:t>
            </a:r>
            <a:r>
              <a:rPr sz="1000">
                <a:solidFill>
                  <a:srgbClr val="CBD5E1"/>
                </a:solidFill>
              </a:rPr>
              <a:t>Default: 'Standard 09:00 - 18:00 IST'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avatar: </a:t>
            </a:r>
            <a:r>
              <a:rPr sz="1000">
                <a:solidFill>
                  <a:srgbClr val="CBD5E1"/>
                </a:solidFill>
              </a:rPr>
              <a:t>Synchronized avatar URI for fast directory table lookups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DATA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11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 Entity Deep-Dive: Attendance &amp; Audit Trails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SCHEMA: ATTENDANCE (DAILY PUNCH RECORD)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employee: </a:t>
            </a:r>
            <a:r>
              <a:rPr sz="1000">
                <a:solidFill>
                  <a:srgbClr val="CBD5E1"/>
                </a:solidFill>
              </a:rPr>
              <a:t>ObjectId referencing Employee model; indexed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date: </a:t>
            </a:r>
            <a:r>
              <a:rPr sz="1000">
                <a:solidFill>
                  <a:srgbClr val="CBD5E1"/>
                </a:solidFill>
              </a:rPr>
              <a:t>String, YYYY-MM-DD format (Asia/Kolkata IST normalized)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Compound Index: </a:t>
            </a:r>
            <a:r>
              <a:rPr sz="1000">
                <a:solidFill>
                  <a:srgbClr val="CBD5E1"/>
                </a:solidFill>
              </a:rPr>
              <a:t>Unique index on (employee, date) - strictly enforces one punch record per day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status: </a:t>
            </a:r>
            <a:r>
              <a:rPr sz="1000">
                <a:solidFill>
                  <a:srgbClr val="CBD5E1"/>
                </a:solidFill>
              </a:rPr>
              <a:t>Enum: ['PRESENT', 'LATE', 'HALF_DAY', 'ABSENT']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mode: </a:t>
            </a:r>
            <a:r>
              <a:rPr sz="1000">
                <a:solidFill>
                  <a:srgbClr val="CBD5E1"/>
                </a:solidFill>
              </a:rPr>
              <a:t>Enum: ['OFFICE', 'WFH']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checkIn / checkOut: </a:t>
            </a:r>
            <a:r>
              <a:rPr sz="1000">
                <a:solidFill>
                  <a:srgbClr val="CBD5E1"/>
                </a:solidFill>
              </a:rPr>
              <a:t>Timestamps recording exact IST punch times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checkInMethod: </a:t>
            </a:r>
            <a:r>
              <a:rPr sz="1000">
                <a:solidFill>
                  <a:srgbClr val="CBD5E1"/>
                </a:solidFill>
              </a:rPr>
              <a:t>Enum: ['QR_SCAN', 'MANUAL_CORRECTION', 'WFH_REMOTE']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workingHours: </a:t>
            </a:r>
            <a:r>
              <a:rPr sz="1000">
                <a:solidFill>
                  <a:srgbClr val="CBD5E1"/>
                </a:solidFill>
              </a:rPr>
              <a:t>Computed numeric duration in hours and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EMBEDDED SCHEMA: AUDITHISTORY ARRAY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Purpose: </a:t>
            </a:r>
            <a:r>
              <a:rPr sz="1000">
                <a:solidFill>
                  <a:srgbClr val="CBD5E1"/>
                </a:solidFill>
              </a:rPr>
              <a:t>Tamper-evident record of any administrative corrections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modifiedBy: </a:t>
            </a:r>
            <a:r>
              <a:rPr sz="1000">
                <a:solidFill>
                  <a:srgbClr val="CBD5E1"/>
                </a:solidFill>
              </a:rPr>
              <a:t>ObjectId referencing the Admin/HR who initiated change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previousStatus: </a:t>
            </a:r>
            <a:r>
              <a:rPr sz="1000">
                <a:solidFill>
                  <a:srgbClr val="CBD5E1"/>
                </a:solidFill>
              </a:rPr>
              <a:t>Snapshot of attendance status before alteration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newStatus: </a:t>
            </a:r>
            <a:r>
              <a:rPr sz="1000">
                <a:solidFill>
                  <a:srgbClr val="CBD5E1"/>
                </a:solidFill>
              </a:rPr>
              <a:t>Updated attendance status applied by administrator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reason: </a:t>
            </a:r>
            <a:r>
              <a:rPr sz="1000">
                <a:solidFill>
                  <a:srgbClr val="CBD5E1"/>
                </a:solidFill>
              </a:rPr>
              <a:t>Mandatory text justification submitted by manager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timestamp: </a:t>
            </a:r>
            <a:r>
              <a:rPr sz="1000">
                <a:solidFill>
                  <a:srgbClr val="CBD5E1"/>
                </a:solidFill>
              </a:rPr>
              <a:t>Exact ISO datetime when the adjustment occurred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Compliance Value: </a:t>
            </a:r>
            <a:r>
              <a:rPr sz="1000">
                <a:solidFill>
                  <a:srgbClr val="CBD5E1"/>
                </a:solidFill>
              </a:rPr>
              <a:t>Guarantees full forensic traceability for payroll and labor audits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STATE MACHINES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12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 Entity Deep-Dive: WFH &amp; Leave State Machines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WFHREQUEST STATE MACHINE (TWO-STAGE)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PENDING: </a:t>
            </a:r>
            <a:r>
              <a:rPr sz="1000">
                <a:solidFill>
                  <a:srgbClr val="CBD5E1"/>
                </a:solidFill>
              </a:rPr>
              <a:t>Initial state upon employee submission with date &amp; reason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HR_APPROVED: </a:t>
            </a:r>
            <a:r>
              <a:rPr sz="1000">
                <a:solidFill>
                  <a:srgbClr val="CBD5E1"/>
                </a:solidFill>
              </a:rPr>
              <a:t>Stage 1 passed: HR Admin reviewed and endorsed request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APPROVED: </a:t>
            </a:r>
            <a:r>
              <a:rPr sz="1000">
                <a:solidFill>
                  <a:srgbClr val="CBD5E1"/>
                </a:solidFill>
              </a:rPr>
              <a:t>Final state: Super Admin ratified request; attendance unlocked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REJECTED: </a:t>
            </a:r>
            <a:r>
              <a:rPr sz="1000">
                <a:solidFill>
                  <a:srgbClr val="CBD5E1"/>
                </a:solidFill>
              </a:rPr>
              <a:t>Denied by HR Admin or Super Admin with formal remarks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CANCELLED: </a:t>
            </a:r>
            <a:r>
              <a:rPr sz="1000">
                <a:solidFill>
                  <a:srgbClr val="CBD5E1"/>
                </a:solidFill>
              </a:rPr>
              <a:t>Revoked by employee prior to managerial decision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Audit Fields: </a:t>
            </a:r>
            <a:r>
              <a:rPr sz="1000">
                <a:solidFill>
                  <a:srgbClr val="CBD5E1"/>
                </a:solidFill>
              </a:rPr>
              <a:t>hrApprovedBy, hrDecisionDate, adminApprovedBy, adminDecisionDate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LEAVEREQUEST STATE MACHINE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leaveType: </a:t>
            </a:r>
            <a:r>
              <a:rPr sz="1000">
                <a:solidFill>
                  <a:srgbClr val="CBD5E1"/>
                </a:solidFill>
              </a:rPr>
              <a:t>Enum: ['CASUAL', 'SICK', 'EARNED']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startDate / endDate: </a:t>
            </a:r>
            <a:r>
              <a:rPr sz="1000">
                <a:solidFill>
                  <a:srgbClr val="CBD5E1"/>
                </a:solidFill>
              </a:rPr>
              <a:t>Dates defining leave period duration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reason: </a:t>
            </a:r>
            <a:r>
              <a:rPr sz="1000">
                <a:solidFill>
                  <a:srgbClr val="CBD5E1"/>
                </a:solidFill>
              </a:rPr>
              <a:t>Detailed explanation and optional medical attachment link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status: </a:t>
            </a:r>
            <a:r>
              <a:rPr sz="1000">
                <a:solidFill>
                  <a:srgbClr val="CBD5E1"/>
                </a:solidFill>
              </a:rPr>
              <a:t>Enum: ['PENDING', 'APPROVED', 'REJECTED']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decidedBy: </a:t>
            </a:r>
            <a:r>
              <a:rPr sz="1000">
                <a:solidFill>
                  <a:srgbClr val="CBD5E1"/>
                </a:solidFill>
              </a:rPr>
              <a:t>Reference to the approving HR or Super Admin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Balance Deduction: </a:t>
            </a:r>
            <a:r>
              <a:rPr sz="1000">
                <a:solidFill>
                  <a:srgbClr val="CBD5E1"/>
                </a:solidFill>
              </a:rPr>
              <a:t>Automatically adjusts remaining leave balance on approval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DATA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13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 Entity Deep-Dive: Dynamic QR &amp; System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SCHEMA: QRSESSION (EPHEMERAL ROLLING TOKEN)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token: </a:t>
            </a:r>
            <a:r>
              <a:rPr sz="1000">
                <a:solidFill>
                  <a:srgbClr val="CBD5E1"/>
                </a:solidFill>
              </a:rPr>
              <a:t>256-bit cryptographically secure token string; unique index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officeLocation: </a:t>
            </a:r>
            <a:r>
              <a:rPr sz="1000">
                <a:solidFill>
                  <a:srgbClr val="CBD5E1"/>
                </a:solidFill>
              </a:rPr>
              <a:t>Location descriptor (e.g., 'Lucknow HQ - Reception Screen 1')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generatedBy: </a:t>
            </a:r>
            <a:r>
              <a:rPr sz="1000">
                <a:solidFill>
                  <a:srgbClr val="CBD5E1"/>
                </a:solidFill>
              </a:rPr>
              <a:t>Reference to kiosk session or reception admin identity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expiresAt: </a:t>
            </a:r>
            <a:r>
              <a:rPr sz="1000">
                <a:solidFill>
                  <a:srgbClr val="CBD5E1"/>
                </a:solidFill>
              </a:rPr>
              <a:t>Date field with MongoDB TTL Index (auto-deletes after 18 seconds)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used: </a:t>
            </a:r>
            <a:r>
              <a:rPr sz="1000">
                <a:solidFill>
                  <a:srgbClr val="CBD5E1"/>
                </a:solidFill>
              </a:rPr>
              <a:t>Boolean flag; set to true upon first scan consumption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usedBy: </a:t>
            </a:r>
            <a:r>
              <a:rPr sz="1000">
                <a:solidFill>
                  <a:srgbClr val="CBD5E1"/>
                </a:solidFill>
              </a:rPr>
              <a:t>ObjectId of employee who scanned the token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usedAt: </a:t>
            </a:r>
            <a:r>
              <a:rPr sz="1000">
                <a:solidFill>
                  <a:srgbClr val="CBD5E1"/>
                </a:solidFill>
              </a:rPr>
              <a:t>Timestamp recording the exact millisecond of consumption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SCHEMA: ATTENDANCEPOLICY (ENTERPRISE SINGLETON)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officeStartTime: </a:t>
            </a:r>
            <a:r>
              <a:rPr sz="1000">
                <a:solidFill>
                  <a:srgbClr val="CBD5E1"/>
                </a:solidFill>
              </a:rPr>
              <a:t>String: '09:00' (Official work day start time)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checkInCutoffTime: </a:t>
            </a:r>
            <a:r>
              <a:rPr sz="1000">
                <a:solidFill>
                  <a:srgbClr val="CBD5E1"/>
                </a:solidFill>
              </a:rPr>
              <a:t>String: '09:30' (Boundary between PRESENT and LATE)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officeEndTime: </a:t>
            </a:r>
            <a:r>
              <a:rPr sz="1000">
                <a:solidFill>
                  <a:srgbClr val="CBD5E1"/>
                </a:solidFill>
              </a:rPr>
              <a:t>String: '18:00' (Standard shift departure time)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maxWfhPerDay: </a:t>
            </a:r>
            <a:r>
              <a:rPr sz="1000">
                <a:solidFill>
                  <a:srgbClr val="CBD5E1"/>
                </a:solidFill>
              </a:rPr>
              <a:t>Number: 5 (Maximum allowable remote employees per day)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qrCodeExpirySeconds: </a:t>
            </a:r>
            <a:r>
              <a:rPr sz="1000">
                <a:solidFill>
                  <a:srgbClr val="CBD5E1"/>
                </a:solidFill>
              </a:rPr>
              <a:t>Number: 18 (Configurable rotation duration)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allowedIpSubnets: </a:t>
            </a:r>
            <a:r>
              <a:rPr sz="1000">
                <a:solidFill>
                  <a:srgbClr val="CBD5E1"/>
                </a:solidFill>
              </a:rPr>
              <a:t>Optional IP ranges permitted for kiosk token generation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enforceGeofencing: </a:t>
            </a:r>
            <a:r>
              <a:rPr sz="1000">
                <a:solidFill>
                  <a:srgbClr val="CBD5E1"/>
                </a:solidFill>
              </a:rPr>
              <a:t>Boolean toggle for physical location locking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TIME POLICY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14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Timezone Engine &amp; Indian Standard Time (IST)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118872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3383280" cy="1042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E5FF"/>
                </a:solidFill>
              </a:defRPr>
            </a:pPr>
            <a:r>
              <a:t>UTC +05:30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Normalized Timezone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83280" cy="118872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36192"/>
            <a:ext cx="3383280" cy="1042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09:00 AM IST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Shift Commencement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118872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536192"/>
            <a:ext cx="3383280" cy="1042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09:30 AM IST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Strict Late Cutoff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5212080" cy="32918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TIME NORMALIZATION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83280"/>
            <a:ext cx="49377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Asia/Kolkata Boundary: </a:t>
            </a:r>
            <a:r>
              <a:rPr sz="1000">
                <a:solidFill>
                  <a:srgbClr val="CBD5E1"/>
                </a:solidFill>
              </a:rPr>
              <a:t>All timestamps are converted and parsed in Asia/Kolkata timezone regardless of hosting server zone (AWS, Azure, or local).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Date String Key: </a:t>
            </a:r>
            <a:r>
              <a:rPr sz="1000">
                <a:solidFill>
                  <a:srgbClr val="CBD5E1"/>
                </a:solidFill>
              </a:rPr>
              <a:t>Date strings stored in normalized YYYY-MM-DD IST to prevent UTC day-shift bugs.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No Device Clock Spoofing: </a:t>
            </a:r>
            <a:r>
              <a:rPr sz="1000">
                <a:solidFill>
                  <a:srgbClr val="CBD5E1"/>
                </a:solidFill>
              </a:rPr>
              <a:t>Check-in time is calculated strictly from server NTP clock, rejecting client phone clock manipulations.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26080"/>
            <a:ext cx="5212080" cy="32918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AUTOMATED CLASSIFICATION 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383280"/>
            <a:ext cx="49377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&lt;= 09:30:00 AM IST: </a:t>
            </a:r>
            <a:r>
              <a:rPr sz="1000">
                <a:solidFill>
                  <a:srgbClr val="CBD5E1"/>
                </a:solidFill>
              </a:rPr>
              <a:t>Attendance marked with status 'PRESENT'. Punctuality metrics incremented.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&gt; 09:30:00 AM IST: </a:t>
            </a:r>
            <a:r>
              <a:rPr sz="1000">
                <a:solidFill>
                  <a:srgbClr val="CBD5E1"/>
                </a:solidFill>
              </a:rPr>
              <a:t>Attendance marked with status 'LATE'. Flagged in red on HR dashboard.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Post 13:00 PM IST: </a:t>
            </a:r>
            <a:r>
              <a:rPr sz="1000">
                <a:solidFill>
                  <a:srgbClr val="CBD5E1"/>
                </a:solidFill>
              </a:rPr>
              <a:t>Check-ins classified as 'HALF_DAY' automatically.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Absence Auto-Evaluation: </a:t>
            </a:r>
            <a:r>
              <a:rPr sz="1000">
                <a:solidFill>
                  <a:srgbClr val="CBD5E1"/>
                </a:solidFill>
              </a:rPr>
              <a:t>Employees with no check-in by day close marked 'ABSENT'.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QR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15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Dynamic Office QR System: 18s Rolling Tokens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CRYPTOGRAPHIC ROLLING MECHANICS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Step 1: Session Polling: </a:t>
            </a:r>
            <a:r>
              <a:rPr sz="1000">
                <a:solidFill>
                  <a:srgbClr val="CBD5E1"/>
                </a:solidFill>
              </a:rPr>
              <a:t>Office display polls `/api/qr/session` or `/api/qr/kiosk` to fetch active session.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Step 2: Entropy Injection: </a:t>
            </a:r>
            <a:r>
              <a:rPr sz="1000">
                <a:solidFill>
                  <a:srgbClr val="CBD5E1"/>
                </a:solidFill>
              </a:rPr>
              <a:t>Server combines timestamp, office salt, and random 256-bit token.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Step 3: TTL Index: </a:t>
            </a:r>
            <a:r>
              <a:rPr sz="1000">
                <a:solidFill>
                  <a:srgbClr val="CBD5E1"/>
                </a:solidFill>
              </a:rPr>
              <a:t>MongoDB creates document with 18-second auto-expiration.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Step 4: Real-Time Rendering: </a:t>
            </a:r>
            <a:r>
              <a:rPr sz="1000">
                <a:solidFill>
                  <a:srgbClr val="CBD5E1"/>
                </a:solidFill>
              </a:rPr>
              <a:t>Kiosk renders SVG/Canvas QR with countdown progress ring.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Step 5: Immediate Burn: </a:t>
            </a:r>
            <a:r>
              <a:rPr sz="1000">
                <a:solidFill>
                  <a:srgbClr val="CBD5E1"/>
                </a:solidFill>
              </a:rPr>
              <a:t>Scanning marks token as used; second scan fails instantly.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ANTI-REPLAY &amp; ANTI-FRAUD 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Zero Photo-Sharing Risk: </a:t>
            </a:r>
            <a:r>
              <a:rPr sz="1000">
                <a:solidFill>
                  <a:srgbClr val="CBD5E1"/>
                </a:solidFill>
              </a:rPr>
              <a:t>A photo taken by an employee on messaging apps expires in 18s before an offsite colleague can scan it.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Replay Token Rejection: </a:t>
            </a:r>
            <a:r>
              <a:rPr sz="1000">
                <a:solidFill>
                  <a:srgbClr val="CBD5E1"/>
                </a:solidFill>
              </a:rPr>
              <a:t>Any replayed token throws HTTP 400: 'Token already used or expired'.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No Static URLs: </a:t>
            </a:r>
            <a:r>
              <a:rPr sz="1000">
                <a:solidFill>
                  <a:srgbClr val="CBD5E1"/>
                </a:solidFill>
              </a:rPr>
              <a:t>QR encodes ephemeral cryptographic payload, not static web URLs.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Audit Association: </a:t>
            </a:r>
            <a:r>
              <a:rPr sz="1000">
                <a:solidFill>
                  <a:srgbClr val="CBD5E1"/>
                </a:solidFill>
              </a:rPr>
              <a:t>Every token records generating kiosk IP and scanning employee ID.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KIOSK UI/UX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16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Reception / Wall Kiosk Mode: Display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VISUAL DESIGN &amp; ATMOSPHERE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Cyberpunk Aesthetic: </a:t>
            </a:r>
            <a:r>
              <a:rPr sz="1000">
                <a:solidFill>
                  <a:srgbClr val="CBD5E1"/>
                </a:solidFill>
              </a:rPr>
              <a:t>Sleek dark theme with glowing cyan borders and futuristic HUD typography.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Laser Beam Sweep: </a:t>
            </a:r>
            <a:r>
              <a:rPr sz="1000">
                <a:solidFill>
                  <a:srgbClr val="CBD5E1"/>
                </a:solidFill>
              </a:rPr>
              <a:t>Animated horizontal cyan laser line sweeping across the QR frame continuously.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Real-Time Clock: </a:t>
            </a:r>
            <a:r>
              <a:rPr sz="1000">
                <a:solidFill>
                  <a:srgbClr val="CBD5E1"/>
                </a:solidFill>
              </a:rPr>
              <a:t>Digital live 24-hour clock displaying current IST seconds and full date format.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COUNTDOWN &amp; AUTO-REFRESH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Circular Countdown Bar: </a:t>
            </a:r>
            <a:r>
              <a:rPr sz="1000">
                <a:solidFill>
                  <a:srgbClr val="CBD5E1"/>
                </a:solidFill>
              </a:rPr>
              <a:t>Radial progress bar tracking the exact remaining seconds out of 18s.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Color Shift Warning: </a:t>
            </a:r>
            <a:r>
              <a:rPr sz="1000">
                <a:solidFill>
                  <a:srgbClr val="CBD5E1"/>
                </a:solidFill>
              </a:rPr>
              <a:t>Progress transitions from Cyan (18s-6s) to Amber (5s-2s) to Red (&lt;2s).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Seamless Transition: </a:t>
            </a:r>
            <a:r>
              <a:rPr sz="1000">
                <a:solidFill>
                  <a:srgbClr val="CBD5E1"/>
                </a:solidFill>
              </a:rPr>
              <a:t>New QR token generated in background without screen flicker or lag.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HARDWARE &amp; KIOSK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Full-Screen Lock: </a:t>
            </a:r>
            <a:r>
              <a:rPr sz="1000">
                <a:solidFill>
                  <a:srgbClr val="CBD5E1"/>
                </a:solidFill>
              </a:rPr>
              <a:t>Runs in browser full-screen kiosk mode (F11) on tablet or smart TV at reception.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Tamper Resistant: </a:t>
            </a:r>
            <a:r>
              <a:rPr sz="1000">
                <a:solidFill>
                  <a:srgbClr val="CBD5E1"/>
                </a:solidFill>
              </a:rPr>
              <a:t>No interactive navigation buttons accessible to guests or visitors.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Low Footprint: </a:t>
            </a:r>
            <a:r>
              <a:rPr sz="1000">
                <a:solidFill>
                  <a:srgbClr val="CBD5E1"/>
                </a:solidFill>
              </a:rPr>
              <a:t>Optimized lightweight canvas rendering consuming minimal CPU on kiosk hardware.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ONBOARDING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17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Employee Onboarding &amp; Demo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Demo Account ID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Full Name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Assigned Department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Corporate Role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Simulated OTP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VX-EMP-001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Aarav Sharma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Senior Full-Stack Developer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8426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VX-EMP-002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Priya Patel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Product &amp; Design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Lead Product Manager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8426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VX-EMP-003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Kavita Reddy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HR &amp; Operations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People Operations Specialist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8426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3840480"/>
            <a:ext cx="5212080" cy="23774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ONBOARDING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49377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1. Directory Matching: </a:t>
            </a:r>
            <a:r>
              <a:rPr sz="1000">
                <a:solidFill>
                  <a:srgbClr val="CBD5E1"/>
                </a:solidFill>
              </a:rPr>
              <a:t>App queries backend to confirm valid Employee ID.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2. Simulated OTP Dispatch: </a:t>
            </a:r>
            <a:r>
              <a:rPr sz="1000">
                <a:solidFill>
                  <a:srgbClr val="CBD5E1"/>
                </a:solidFill>
              </a:rPr>
              <a:t>Backend renders instant simulated OTP `8426`.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3. Account Claiming: </a:t>
            </a:r>
            <a:r>
              <a:rPr sz="1000">
                <a:solidFill>
                  <a:srgbClr val="CBD5E1"/>
                </a:solidFill>
              </a:rPr>
              <a:t>Employee sets strong personal password.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212080" cy="23774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ENTERPRISE SECURITY 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297680"/>
            <a:ext cx="49377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No Cold Starts: </a:t>
            </a:r>
            <a:r>
              <a:rPr sz="1000">
                <a:solidFill>
                  <a:srgbClr val="CBD5E1"/>
                </a:solidFill>
              </a:rPr>
              <a:t>Enables seamless demonstration without waiting for third-party SMS delays.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Production Parity: </a:t>
            </a:r>
            <a:r>
              <a:rPr sz="1000">
                <a:solidFill>
                  <a:srgbClr val="CBD5E1"/>
                </a:solidFill>
              </a:rPr>
              <a:t>Exact same API contract and JWT issuance as live SMS gateway.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AUTHENTICATION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18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Simulated &amp; Dynamic SMS OTP Handshake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DUAL-MODE OTP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Demo Sandbox Mode: </a:t>
            </a:r>
            <a:r>
              <a:rPr sz="1000">
                <a:solidFill>
                  <a:srgbClr val="CBD5E1"/>
                </a:solidFill>
              </a:rPr>
              <a:t>When running in test/demo mode, code `8426` is accepted with instant auto-fill code badges.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Dynamic SMS Mode: </a:t>
            </a:r>
            <a:r>
              <a:rPr sz="1000">
                <a:solidFill>
                  <a:srgbClr val="CBD5E1"/>
                </a:solidFill>
              </a:rPr>
              <a:t>In production mode, server generates a random 4-digit cryptographic OTP.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SMS Gateway Abstraction: </a:t>
            </a:r>
            <a:r>
              <a:rPr sz="1000">
                <a:solidFill>
                  <a:srgbClr val="CBD5E1"/>
                </a:solidFill>
              </a:rPr>
              <a:t>Pluggable driver interface supporting Twilio, MSG91, AWS SNS, and Fast2SMS.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Time-To-Live (TTL): </a:t>
            </a:r>
            <a:r>
              <a:rPr sz="1000">
                <a:solidFill>
                  <a:srgbClr val="CBD5E1"/>
                </a:solidFill>
              </a:rPr>
              <a:t>OTP expires in 10 minutes; automatically purged from session cache.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Attempt Throttling: </a:t>
            </a:r>
            <a:r>
              <a:rPr sz="1000">
                <a:solidFill>
                  <a:srgbClr val="CBD5E1"/>
                </a:solidFill>
              </a:rPr>
              <a:t>Maximum 3 failed OTP attempts before temporary phone number cooldown.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API HANDSHAKE LIFECYCLE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POST /api/auth/send-otp: </a:t>
            </a:r>
            <a:r>
              <a:rPr sz="1000">
                <a:solidFill>
                  <a:srgbClr val="CBD5E1"/>
                </a:solidFill>
              </a:rPr>
              <a:t>Request payload: `{ phone: '+919876543210' }`. Server generates OTP and returns session ID.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POST /api/auth/verify-otp: </a:t>
            </a:r>
            <a:r>
              <a:rPr sz="1000">
                <a:solidFill>
                  <a:srgbClr val="CBD5E1"/>
                </a:solidFill>
              </a:rPr>
              <a:t>Payload: `{ phone, otp: '8426' }`. Server verifies hash and expiration.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Response Envelope: </a:t>
            </a:r>
            <a:r>
              <a:rPr sz="1000">
                <a:solidFill>
                  <a:srgbClr val="CBD5E1"/>
                </a:solidFill>
              </a:rPr>
              <a:t>Returns `{ token: JWT, user: { id, name, role, employeeId } }`.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Mobile Persistence: </a:t>
            </a:r>
            <a:r>
              <a:rPr sz="1000">
                <a:solidFill>
                  <a:srgbClr val="CBD5E1"/>
                </a:solidFill>
              </a:rPr>
              <a:t>JWT stored securely in AsyncStorage for persistent app authentication.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MOBILE SECURITY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19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Passwordless Mobile Number Authentication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118872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3383280" cy="1042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E5FF"/>
                </a:solidFill>
              </a:defRPr>
            </a:pPr>
            <a:r>
              <a:t>Zero Passwords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Eliminates Password Fatigue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83280" cy="118872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36192"/>
            <a:ext cx="3383280" cy="1042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1-Tap Login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Frictionless Employee 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118872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536192"/>
            <a:ext cx="3383280" cy="1042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JWT Encrypted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Tamper-Proof Claims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5212080" cy="32918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WHY PASSWORDLESS FOR ATTENDANCE?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83280"/>
            <a:ext cx="49377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Zero Credentials Stored on Phone: </a:t>
            </a:r>
            <a:r>
              <a:rPr sz="1000">
                <a:solidFill>
                  <a:srgbClr val="CBD5E1"/>
                </a:solidFill>
              </a:rPr>
              <a:t>Employees never need to remember or rotate complex passwords.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Eliminates Phishing: </a:t>
            </a:r>
            <a:r>
              <a:rPr sz="1000">
                <a:solidFill>
                  <a:srgbClr val="CBD5E1"/>
                </a:solidFill>
              </a:rPr>
              <a:t>No static passwords for attackers to intercept via credential stuffing.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Instant Revocation: </a:t>
            </a:r>
            <a:r>
              <a:rPr sz="1000">
                <a:solidFill>
                  <a:srgbClr val="CBD5E1"/>
                </a:solidFill>
              </a:rPr>
              <a:t>If an employee leaves, HR deactivates their account and login tokens expire instantly.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26080"/>
            <a:ext cx="5212080" cy="32918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FALLBACK &amp; EMERGENCY 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383280"/>
            <a:ext cx="49377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Super Admin Master Override: </a:t>
            </a:r>
            <a:r>
              <a:rPr sz="1000">
                <a:solidFill>
                  <a:srgbClr val="CBD5E1"/>
                </a:solidFill>
              </a:rPr>
              <a:t>Super Admin can issue temporary login tokens in emergency network outages.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Multi-Device Support: </a:t>
            </a:r>
            <a:r>
              <a:rPr sz="1000">
                <a:solidFill>
                  <a:srgbClr val="CBD5E1"/>
                </a:solidFill>
              </a:rPr>
              <a:t>Token binding supports seamless transition across iOS, Android, and Web.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Biometric Extension Ready: </a:t>
            </a:r>
            <a:r>
              <a:rPr sz="1000">
                <a:solidFill>
                  <a:srgbClr val="CBD5E1"/>
                </a:solidFill>
              </a:rPr>
              <a:t>Architecture ready for FaceID / TouchID biometric token unlock.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MOBILE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20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Employee Mobile App: Architecture &amp;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CORE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React Native 0.76: </a:t>
            </a:r>
            <a:r>
              <a:rPr sz="1000">
                <a:solidFill>
                  <a:srgbClr val="CBD5E1"/>
                </a:solidFill>
              </a:rPr>
              <a:t>Native component rendering for optimal 60fps performance.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Expo 58 Platform: </a:t>
            </a:r>
            <a:r>
              <a:rPr sz="1000">
                <a:solidFill>
                  <a:srgbClr val="CBD5E1"/>
                </a:solidFill>
              </a:rPr>
              <a:t>Managed workflow ensuring cross-platform iOS &amp; Android parity.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Metro Bundler: </a:t>
            </a:r>
            <a:r>
              <a:rPr sz="1000">
                <a:solidFill>
                  <a:srgbClr val="CBD5E1"/>
                </a:solidFill>
              </a:rPr>
              <a:t>Fast Hot Module Replacement (HMR) and zero build errors across 399 bundled modules.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HARDWARE &amp;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Expo Camera: </a:t>
            </a:r>
            <a:r>
              <a:rPr sz="1000">
                <a:solidFill>
                  <a:srgbClr val="CBD5E1"/>
                </a:solidFill>
              </a:rPr>
              <a:t>High-performance camera integration with barcode/QR scanning engine.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AsyncStorage: </a:t>
            </a:r>
            <a:r>
              <a:rPr sz="1000">
                <a:solidFill>
                  <a:srgbClr val="CBD5E1"/>
                </a:solidFill>
              </a:rPr>
              <a:t>Encrypted local device storage for JWT and offline cached profile.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ImagePicker API: </a:t>
            </a:r>
            <a:r>
              <a:rPr sz="1000">
                <a:solidFill>
                  <a:srgbClr val="CBD5E1"/>
                </a:solidFill>
              </a:rPr>
              <a:t>Seamless integration with iOS Camera Roll and Android Gallery.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NAVIGATION &amp;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Tab Navigation: </a:t>
            </a:r>
            <a:r>
              <a:rPr sz="1000">
                <a:solidFill>
                  <a:srgbClr val="CBD5E1"/>
                </a:solidFill>
              </a:rPr>
              <a:t>Dashboard, Attendance History, Requests (WFH/Leave), and Profile.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Offline State Cache: </a:t>
            </a:r>
            <a:r>
              <a:rPr sz="1000">
                <a:solidFill>
                  <a:srgbClr val="CBD5E1"/>
                </a:solidFill>
              </a:rPr>
              <a:t>Renders cached attendance history if connectivity drops.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Auto-Reconnection: </a:t>
            </a:r>
            <a:r>
              <a:rPr sz="1000">
                <a:solidFill>
                  <a:srgbClr val="CBD5E1"/>
                </a:solidFill>
              </a:rPr>
              <a:t>Automatic synchronization when network connectivity restores.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MOBILE UX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21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Mobile App: Daily Attendance Dashboard &amp; Telemetry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LIVE SHIFT TELEMETRY 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Live Digital Clock: </a:t>
            </a:r>
            <a:r>
              <a:rPr sz="1000">
                <a:solidFill>
                  <a:srgbClr val="CBD5E1"/>
                </a:solidFill>
              </a:rPr>
              <a:t>Real-time clock displaying current IST hours, minutes, and seconds.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Today's Shift Status: </a:t>
            </a:r>
            <a:r>
              <a:rPr sz="1000">
                <a:solidFill>
                  <a:srgbClr val="CBD5E1"/>
                </a:solidFill>
              </a:rPr>
              <a:t>Color-coded badge: 'NOT CHECKED IN' (Gray), 'PRESENT' (Green), 'LATE' (Amber), 'CHECKED OUT' (Blue).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Check-In Time Record: </a:t>
            </a:r>
            <a:r>
              <a:rPr sz="1000">
                <a:solidFill>
                  <a:srgbClr val="CBD5E1"/>
                </a:solidFill>
              </a:rPr>
              <a:t>Displays exact timestamp of morning check-in (e.g. 09:14 AM).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Live Elapsed Timer: </a:t>
            </a:r>
            <a:r>
              <a:rPr sz="1000">
                <a:solidFill>
                  <a:srgbClr val="CBD5E1"/>
                </a:solidFill>
              </a:rPr>
              <a:t>Dynamically updates elapsed shift duration (e.g. '04h 32m on duty').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WFH Quota Bar: </a:t>
            </a:r>
            <a:r>
              <a:rPr sz="1000">
                <a:solidFill>
                  <a:srgbClr val="CBD5E1"/>
                </a:solidFill>
              </a:rPr>
              <a:t>Shows organizational remote capacity: '3/5 Approved Today'.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PRIMARY ACTION BUTTONS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Scan Office QR to Check In: </a:t>
            </a:r>
            <a:r>
              <a:rPr sz="1000">
                <a:solidFill>
                  <a:srgbClr val="CBD5E1"/>
                </a:solidFill>
              </a:rPr>
              <a:t>High-contrast action button activating camera scanner.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Scan Screen QR to Check Out: </a:t>
            </a:r>
            <a:r>
              <a:rPr sz="1000">
                <a:solidFill>
                  <a:srgbClr val="CBD5E1"/>
                </a:solidFill>
              </a:rPr>
              <a:t>Departing action recording official checkout timestamp.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Apply for Work From Home: </a:t>
            </a:r>
            <a:r>
              <a:rPr sz="1000">
                <a:solidFill>
                  <a:srgbClr val="CBD5E1"/>
                </a:solidFill>
              </a:rPr>
              <a:t>Quick link opening the WFH application dialog.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Request Time-Off / Leave: </a:t>
            </a:r>
            <a:r>
              <a:rPr sz="1000">
                <a:solidFill>
                  <a:srgbClr val="CBD5E1"/>
                </a:solidFill>
              </a:rPr>
              <a:t>Direct access to casual, sick, and earned leave forms.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MOBILE SCANNER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22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Mobile App: Camera Dynamic QR Scanner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IN-APP CAMERA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Full-Screen Viewfinder: </a:t>
            </a:r>
            <a:r>
              <a:rPr sz="1000">
                <a:solidFill>
                  <a:srgbClr val="CBD5E1"/>
                </a:solidFill>
              </a:rPr>
              <a:t>Hardware-accelerated camera feed with blurred backdrop framing.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Scanning Reticle: </a:t>
            </a:r>
            <a:r>
              <a:rPr sz="1000">
                <a:solidFill>
                  <a:srgbClr val="CBD5E1"/>
                </a:solidFill>
              </a:rPr>
              <a:t>High-visibility cyan corner brackets framing the QR code target.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Sub-Second Detection: </a:t>
            </a:r>
            <a:r>
              <a:rPr sz="1000">
                <a:solidFill>
                  <a:srgbClr val="CBD5E1"/>
                </a:solidFill>
              </a:rPr>
              <a:t>Scans and decodes 256-bit payload in under 200 milliseconds.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Haptic Feedback: </a:t>
            </a:r>
            <a:r>
              <a:rPr sz="1000">
                <a:solidFill>
                  <a:srgbClr val="CBD5E1"/>
                </a:solidFill>
              </a:rPr>
              <a:t>Vibration pulse and sound confirmation upon successful decode.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Torch / Flashlight Toggle: </a:t>
            </a:r>
            <a:r>
              <a:rPr sz="1000">
                <a:solidFill>
                  <a:srgbClr val="CBD5E1"/>
                </a:solidFill>
              </a:rPr>
              <a:t>Manual toggle button for dimly lit reception or evening check-outs.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VALIDATION &amp; PAYLOAD 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Instant Payload Parsing: </a:t>
            </a:r>
            <a:r>
              <a:rPr sz="1000">
                <a:solidFill>
                  <a:srgbClr val="CBD5E1"/>
                </a:solidFill>
              </a:rPr>
              <a:t>Extracts token ID and verifies structure before network call.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API Ingestion: </a:t>
            </a:r>
            <a:r>
              <a:rPr sz="1000">
                <a:solidFill>
                  <a:srgbClr val="CBD5E1"/>
                </a:solidFill>
              </a:rPr>
              <a:t>Submits payload to `/api/attendance/check-in` with Authorization Bearer header.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Graceful Error Modals: </a:t>
            </a:r>
            <a:r>
              <a:rPr sz="1000">
                <a:solidFill>
                  <a:srgbClr val="CBD5E1"/>
                </a:solidFill>
              </a:rPr>
              <a:t>If token expired: 'QR expired, please scan the updated screen QR'.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Anti-Spam Debounce: </a:t>
            </a:r>
            <a:r>
              <a:rPr sz="1000">
                <a:solidFill>
                  <a:srgbClr val="CBD5E1"/>
                </a:solidFill>
              </a:rPr>
              <a:t>Camera disengages immediately after scan to prevent multi-submissions.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PUNCTUALITY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23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Mobile App: Check-In Flow &amp; Policy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118872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5212080" cy="1042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PRESENT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Check-in time &lt;= 09:30:00 AM 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118872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36192"/>
            <a:ext cx="5212080" cy="1042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LATE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Check-in time &gt; 09:30:00 AM 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5212080" cy="32918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PUNCTUAL CHECK-IN 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83280"/>
            <a:ext cx="49377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Employee Scans at 09:12 AM: </a:t>
            </a:r>
            <a:r>
              <a:rPr sz="1000">
                <a:solidFill>
                  <a:srgbClr val="CBD5E1"/>
                </a:solidFill>
              </a:rPr>
              <a:t>Camera decodes active reception QR token.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Backend Policy Verification: </a:t>
            </a:r>
            <a:r>
              <a:rPr sz="1000">
                <a:solidFill>
                  <a:srgbClr val="CBD5E1"/>
                </a:solidFill>
              </a:rPr>
              <a:t>Time is verified prior to 09:30 AM cutoff threshold.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Database Update: </a:t>
            </a:r>
            <a:r>
              <a:rPr sz="1000">
                <a:solidFill>
                  <a:srgbClr val="CBD5E1"/>
                </a:solidFill>
              </a:rPr>
              <a:t>Attendance document created with status 'PRESENT'.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UI Feedback: </a:t>
            </a:r>
            <a:r>
              <a:rPr sz="1000">
                <a:solidFill>
                  <a:srgbClr val="CBD5E1"/>
                </a:solidFill>
              </a:rPr>
              <a:t>Vibrant green celebration banner: 'Welcome Aarav! Checked in at 09:12 AM'.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926080"/>
            <a:ext cx="5212080" cy="32918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292608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LATE CHECK-IN 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383280"/>
            <a:ext cx="49377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Employee Scans at 09:41 AM: </a:t>
            </a:r>
            <a:r>
              <a:rPr sz="1000">
                <a:solidFill>
                  <a:srgbClr val="CBD5E1"/>
                </a:solidFill>
              </a:rPr>
              <a:t>Camera decodes active reception QR token.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Backend Policy Verification: </a:t>
            </a:r>
            <a:r>
              <a:rPr sz="1000">
                <a:solidFill>
                  <a:srgbClr val="CBD5E1"/>
                </a:solidFill>
              </a:rPr>
              <a:t>Time exceeds 09:30 AM boundary; late penalty applied.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Database Update: </a:t>
            </a:r>
            <a:r>
              <a:rPr sz="1000">
                <a:solidFill>
                  <a:srgbClr val="CBD5E1"/>
                </a:solidFill>
              </a:rPr>
              <a:t>Attendance record logged with status 'LATE' and lateMinutes: 11.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UI Feedback: </a:t>
            </a:r>
            <a:r>
              <a:rPr sz="1000">
                <a:solidFill>
                  <a:srgbClr val="CBD5E1"/>
                </a:solidFill>
              </a:rPr>
              <a:t>Amber notification: 'Checked in at 09:41 AM (Marked Late: 11 mins past cutoff)'.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SHIFT COMPLETION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24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Mobile App: Check-Out Flow &amp; Working Hours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CHECK-OUT VERIFICATION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1. Evening Verification: </a:t>
            </a:r>
            <a:r>
              <a:rPr sz="1000">
                <a:solidFill>
                  <a:srgbClr val="CBD5E1"/>
                </a:solidFill>
              </a:rPr>
              <a:t>Employee taps 'Scan Screen QR to Check Out' at office close.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2. Token Validation: </a:t>
            </a:r>
            <a:r>
              <a:rPr sz="1000">
                <a:solidFill>
                  <a:srgbClr val="CBD5E1"/>
                </a:solidFill>
              </a:rPr>
              <a:t>Validates that evening QR token is legitimate and active.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3. Pre-existing Check-In Guard: </a:t>
            </a:r>
            <a:r>
              <a:rPr sz="1000">
                <a:solidFill>
                  <a:srgbClr val="CBD5E1"/>
                </a:solidFill>
              </a:rPr>
              <a:t>Verifies employee already has an active check-in record for today.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4. Timestamp Ingestion: </a:t>
            </a:r>
            <a:r>
              <a:rPr sz="1000">
                <a:solidFill>
                  <a:srgbClr val="CBD5E1"/>
                </a:solidFill>
              </a:rPr>
              <a:t>Sets checkOut to current IST time (e.g. 18:05 PM).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5. State Lock: </a:t>
            </a:r>
            <a:r>
              <a:rPr sz="1000">
                <a:solidFill>
                  <a:srgbClr val="CBD5E1"/>
                </a:solidFill>
              </a:rPr>
              <a:t>Marks daily record as concluded; prevents duplicate check-outs.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WORKING HOURS MATHEMATICAL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Delta Computation: </a:t>
            </a:r>
            <a:r>
              <a:rPr sz="1000">
                <a:solidFill>
                  <a:srgbClr val="CBD5E1"/>
                </a:solidFill>
              </a:rPr>
              <a:t>Formula: `durationMs = checkOutTime - checkInTime`.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Hour &amp; Minute Normalization: </a:t>
            </a:r>
            <a:r>
              <a:rPr sz="1000">
                <a:solidFill>
                  <a:srgbClr val="CBD5E1"/>
                </a:solidFill>
              </a:rPr>
              <a:t>Converts raw duration into standard corporate format (e.g. '08h 51m').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Minimum Shift Compliance: </a:t>
            </a:r>
            <a:r>
              <a:rPr sz="1000">
                <a:solidFill>
                  <a:srgbClr val="CBD5E1"/>
                </a:solidFill>
              </a:rPr>
              <a:t>If duration &lt; 4 hours: flags as 'HALF_DAY'; if &gt;= 8 hours: 'FULL_DAY'.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Overtime Telemetry: </a:t>
            </a:r>
            <a:r>
              <a:rPr sz="1000">
                <a:solidFill>
                  <a:srgbClr val="CBD5E1"/>
                </a:solidFill>
              </a:rPr>
              <a:t>Records any excess minutes past 18:00 PM for HR overtime metrics.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REMOTE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25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Mobile App: WFH Application Portal &amp; Quota Counter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WFH APPLICATION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Target Date Selection: </a:t>
            </a:r>
            <a:r>
              <a:rPr sz="1000">
                <a:solidFill>
                  <a:srgbClr val="CBD5E1"/>
                </a:solidFill>
              </a:rPr>
              <a:t>Interactive date picker restricting selection to upcoming working days.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WFH Category: </a:t>
            </a:r>
            <a:r>
              <a:rPr sz="1000">
                <a:solidFill>
                  <a:srgbClr val="CBD5E1"/>
                </a:solidFill>
              </a:rPr>
              <a:t>Enum: 'STANDARD' (routine remote work) or 'URGENT' (family/medical emergency).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Detailed Justification: </a:t>
            </a:r>
            <a:r>
              <a:rPr sz="1000">
                <a:solidFill>
                  <a:srgbClr val="CBD5E1"/>
                </a:solidFill>
              </a:rPr>
              <a:t>Mandatory text description of deliverables and remote availability.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Document Proof Upload: </a:t>
            </a:r>
            <a:r>
              <a:rPr sz="1000">
                <a:solidFill>
                  <a:srgbClr val="CBD5E1"/>
                </a:solidFill>
              </a:rPr>
              <a:t>Optional attachment upload for doctor's certificates or travel tickets.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Real-Time Capacity Check: </a:t>
            </a:r>
            <a:r>
              <a:rPr sz="1000">
                <a:solidFill>
                  <a:srgbClr val="CBD5E1"/>
                </a:solidFill>
              </a:rPr>
              <a:t>Live counter displaying: '3 of 5 WFH Slots Booked for This Date'.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QUOTA GUARD &amp; STATUS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Automated 5-Slot Guard: </a:t>
            </a:r>
            <a:r>
              <a:rPr sz="1000">
                <a:solidFill>
                  <a:srgbClr val="CBD5E1"/>
                </a:solidFill>
              </a:rPr>
              <a:t>If 5 employees are already approved, submission blocks with clear notice.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Real-Time Status Badge: </a:t>
            </a:r>
            <a:r>
              <a:rPr sz="1000">
                <a:solidFill>
                  <a:srgbClr val="CBD5E1"/>
                </a:solidFill>
              </a:rPr>
              <a:t>Tracks status in real-time: 'Pending HR Review' -&gt; 'Pending Admin Approval' -&gt; 'Approved'.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Remote Attendance Unlock: </a:t>
            </a:r>
            <a:r>
              <a:rPr sz="1000">
                <a:solidFill>
                  <a:srgbClr val="CBD5E1"/>
                </a:solidFill>
              </a:rPr>
              <a:t>On final approval, mobile app renders remote 1-tap check-in button for that date.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Cancellation Support: </a:t>
            </a:r>
            <a:r>
              <a:rPr sz="1000">
                <a:solidFill>
                  <a:srgbClr val="CBD5E1"/>
                </a:solidFill>
              </a:rPr>
              <a:t>Employee can withdraw request before managerial review starts.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LEAVE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26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Mobile App: Comprehensive Leave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Leave Category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Annual Entitlement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Carryover Policy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Typical Usage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Casual Leave (CL)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12 Days / Year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Expires Annually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Personal errands, short unannounced breaks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Sick Leave (SL)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10 Days / Year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Medical Certificate Required &gt; 2 Days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Illness, medical consultations, recovery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Earned Leave (EL)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15 Days / Year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Up to 30 Days Carryover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Planned vacations, family weddings, sabbatical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3840480"/>
            <a:ext cx="5212080" cy="23774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LEAVE BALANCE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49377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Live Balance Counters: </a:t>
            </a:r>
            <a:r>
              <a:rPr sz="1000">
                <a:solidFill>
                  <a:srgbClr val="CBD5E1"/>
                </a:solidFill>
              </a:rPr>
              <a:t>Displays remaining CL, SL, and EL balances in real time.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Pending Deduction Lock: </a:t>
            </a:r>
            <a:r>
              <a:rPr sz="1000">
                <a:solidFill>
                  <a:srgbClr val="CBD5E1"/>
                </a:solidFill>
              </a:rPr>
              <a:t>Temporarily locks requested days while review is underway.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212080" cy="23774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MANAGERIAL NOTIFICATION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297680"/>
            <a:ext cx="49377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HR Alert Dispatch: </a:t>
            </a:r>
            <a:r>
              <a:rPr sz="1000">
                <a:solidFill>
                  <a:srgbClr val="CBD5E1"/>
                </a:solidFill>
              </a:rPr>
              <a:t>Immediately dispatches alert to HR console upon submission.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Decision Push Alert: </a:t>
            </a:r>
            <a:r>
              <a:rPr sz="1000">
                <a:solidFill>
                  <a:srgbClr val="CBD5E1"/>
                </a:solidFill>
              </a:rPr>
              <a:t>Alerts employee instantly when leave is approved or rejected.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ATTENDANCE HISTORY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27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Mobile App: Attendance Calendar &amp; Historical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MONTHLY CALENDAR VISUALIZER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Interactive Grid View: </a:t>
            </a:r>
            <a:r>
              <a:rPr sz="1000">
                <a:solidFill>
                  <a:srgbClr val="CBD5E1"/>
                </a:solidFill>
              </a:rPr>
              <a:t>Full monthly calendar with color-coded day markers: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  • Green Dot: </a:t>
            </a:r>
            <a:r>
              <a:rPr sz="1000">
                <a:solidFill>
                  <a:srgbClr val="CBD5E1"/>
                </a:solidFill>
              </a:rPr>
              <a:t>Punctual office presence (Checked in &lt;= 09:30 AM).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  • Amber Dot: </a:t>
            </a:r>
            <a:r>
              <a:rPr sz="1000">
                <a:solidFill>
                  <a:srgbClr val="CBD5E1"/>
                </a:solidFill>
              </a:rPr>
              <a:t>Late arrival (Checked in &gt; 09:30 AM).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  • Blue Dot: </a:t>
            </a:r>
            <a:r>
              <a:rPr sz="1000">
                <a:solidFill>
                  <a:srgbClr val="CBD5E1"/>
                </a:solidFill>
              </a:rPr>
              <a:t>Approved remote work from home (WFH).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  • Purple Dot: </a:t>
            </a:r>
            <a:r>
              <a:rPr sz="1000">
                <a:solidFill>
                  <a:srgbClr val="CBD5E1"/>
                </a:solidFill>
              </a:rPr>
              <a:t>Approved paid leave (CL/SL/EL).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  • Red Dot: </a:t>
            </a:r>
            <a:r>
              <a:rPr sz="1000">
                <a:solidFill>
                  <a:srgbClr val="CBD5E1"/>
                </a:solidFill>
              </a:rPr>
              <a:t>Unexcused absence or missing check-in.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HISTORICAL PUNCH INSPECTOR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Day Detail Drawer: </a:t>
            </a:r>
            <a:r>
              <a:rPr sz="1000">
                <a:solidFill>
                  <a:srgbClr val="CBD5E1"/>
                </a:solidFill>
              </a:rPr>
              <a:t>Tapping any day opens complete punch telemetry: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  • Check-In Time: </a:t>
            </a:r>
            <a:r>
              <a:rPr sz="1000">
                <a:solidFill>
                  <a:srgbClr val="CBD5E1"/>
                </a:solidFill>
              </a:rPr>
              <a:t>Exact time recorded (e.g. 09:18 AM IST).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  • Check-Out Time: </a:t>
            </a:r>
            <a:r>
              <a:rPr sz="1000">
                <a:solidFill>
                  <a:srgbClr val="CBD5E1"/>
                </a:solidFill>
              </a:rPr>
              <a:t>Exact time recorded (e.g. 18:10 PM IST).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  • Total Duration: </a:t>
            </a:r>
            <a:r>
              <a:rPr sz="1000">
                <a:solidFill>
                  <a:srgbClr val="CBD5E1"/>
                </a:solidFill>
              </a:rPr>
              <a:t>Accumulated shift time (e.g. 08h 52m).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  • Ingestion Method: </a:t>
            </a:r>
            <a:r>
              <a:rPr sz="1000">
                <a:solidFill>
                  <a:srgbClr val="CBD5E1"/>
                </a:solidFill>
              </a:rPr>
              <a:t>'Dynamic QR Scan' or 'Managerial Correction'.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Audit Transparency: </a:t>
            </a:r>
            <a:r>
              <a:rPr sz="1000">
                <a:solidFill>
                  <a:srgbClr val="CBD5E1"/>
                </a:solidFill>
              </a:rPr>
              <a:t>If corrected by HR, shows manager justification note.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PROFILE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28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Mobile App: Profile Avatar Upload &amp; Storage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MOBILE IMAGE CAPTURE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Camera &amp; Gallery Pickers: </a:t>
            </a:r>
            <a:r>
              <a:rPr sz="1000">
                <a:solidFill>
                  <a:srgbClr val="CBD5E1"/>
                </a:solidFill>
              </a:rPr>
              <a:t>Employee taps avatar circle; chooses instant Camera snap or Photo Library.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Client-Side Optimization: </a:t>
            </a:r>
            <a:r>
              <a:rPr sz="1000">
                <a:solidFill>
                  <a:srgbClr val="CBD5E1"/>
                </a:solidFill>
              </a:rPr>
              <a:t>Image resized and compressed on-device to reduce payload size to &lt; 500 KB.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Multipart Upload: </a:t>
            </a:r>
            <a:r>
              <a:rPr sz="1000">
                <a:solidFill>
                  <a:srgbClr val="CBD5E1"/>
                </a:solidFill>
              </a:rPr>
              <a:t>Dispatched to backend via `POST /api/employees/avatar` with JWT auth.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Instant App Sync: </a:t>
            </a:r>
            <a:r>
              <a:rPr sz="1000">
                <a:solidFill>
                  <a:srgbClr val="CBD5E1"/>
                </a:solidFill>
              </a:rPr>
              <a:t>Avatar updates immediately across dashboard, sidebar, and profile.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BACKEND STORAGE &amp; ADMIN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Safe File System Ingestion: </a:t>
            </a:r>
            <a:r>
              <a:rPr sz="1000">
                <a:solidFill>
                  <a:srgbClr val="CBD5E1"/>
                </a:solidFill>
              </a:rPr>
              <a:t>Stored on server disk under `backend/uploads/avatars/` with unique hash names.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Directory Cross-Sync: </a:t>
            </a:r>
            <a:r>
              <a:rPr sz="1000">
                <a:solidFill>
                  <a:srgbClr val="CBD5E1"/>
                </a:solidFill>
              </a:rPr>
              <a:t>Avatar URL automatically written to both User and Employee MongoDB documents.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Immediate Admin Presence: </a:t>
            </a:r>
            <a:r>
              <a:rPr sz="1000">
                <a:solidFill>
                  <a:srgbClr val="CBD5E1"/>
                </a:solidFill>
              </a:rPr>
              <a:t>Photo is instantly visible on Admin Web across directory tables, attendance sheets, and approval cards.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Security Scrubbing: </a:t>
            </a:r>
            <a:r>
              <a:rPr sz="1000">
                <a:solidFill>
                  <a:srgbClr val="CBD5E1"/>
                </a:solidFill>
              </a:rPr>
              <a:t>File MIME type verified to prevent executable upload exploits.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WEB CONSOLE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29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Admin Web Console: Architecture &amp; Layout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CORE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React 18 + Vite: </a:t>
            </a:r>
            <a:r>
              <a:rPr sz="1000">
                <a:solidFill>
                  <a:srgbClr val="CBD5E1"/>
                </a:solidFill>
              </a:rPr>
              <a:t>High-performance SPA with lightning-fast Hot Module Replacement and production bundling.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Tailwind CSS: </a:t>
            </a:r>
            <a:r>
              <a:rPr sz="1000">
                <a:solidFill>
                  <a:srgbClr val="CBD5E1"/>
                </a:solidFill>
              </a:rPr>
              <a:t>Utility-first design system ensuring crisp typography and responsive layouts.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Lucide React Icons: </a:t>
            </a:r>
            <a:r>
              <a:rPr sz="1000">
                <a:solidFill>
                  <a:srgbClr val="CBD5E1"/>
                </a:solidFill>
              </a:rPr>
              <a:t>Extensive modern icon library for clear navigational affordance.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NAVIGATION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Collapsible Sidebar: </a:t>
            </a:r>
            <a:r>
              <a:rPr sz="1000">
                <a:solidFill>
                  <a:srgbClr val="CBD5E1"/>
                </a:solidFill>
              </a:rPr>
              <a:t>Intuitive menu: Dashboard, Attendance Sheet, Directory, Approvals, Policies, HR Admins, Audit.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Role-Guarded Routes: </a:t>
            </a:r>
            <a:r>
              <a:rPr sz="1000">
                <a:solidFill>
                  <a:srgbClr val="CBD5E1"/>
                </a:solidFill>
              </a:rPr>
              <a:t>`ProtectedRoute` wrapper blocking unauthorized roles at the routing layer.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User Header Bar: </a:t>
            </a:r>
            <a:r>
              <a:rPr sz="1000">
                <a:solidFill>
                  <a:srgbClr val="CBD5E1"/>
                </a:solidFill>
              </a:rPr>
              <a:t>Active profile badge, role indicator pill, and single-click logout.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STATE &amp; TELEMETRY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Recharts Telemetry: </a:t>
            </a:r>
            <a:r>
              <a:rPr sz="1000">
                <a:solidFill>
                  <a:srgbClr val="CBD5E1"/>
                </a:solidFill>
              </a:rPr>
              <a:t>Interactive SVG charts for daily attendance trends and department breakdowns.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Axios Interceptors: </a:t>
            </a:r>
            <a:r>
              <a:rPr sz="1000">
                <a:solidFill>
                  <a:srgbClr val="CBD5E1"/>
                </a:solidFill>
              </a:rPr>
              <a:t>Automatically attaches JWT Bearer tokens and handles token expiration (401).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Live Toast System: </a:t>
            </a:r>
            <a:r>
              <a:rPr sz="1000">
                <a:solidFill>
                  <a:srgbClr val="CBD5E1"/>
                </a:solidFill>
              </a:rPr>
              <a:t>Instant notifications for approvals, rejections, and policy updates.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EXECUTIVE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30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Admin Web: Executive Dashboard &amp; Live Telemetry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468880" cy="109728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2468880" cy="950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E5FF"/>
                </a:solidFill>
              </a:defRPr>
            </a:pPr>
            <a:r>
              <a:t>42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Total Headcount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63040"/>
            <a:ext cx="2468880" cy="109728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36192"/>
            <a:ext cx="2468880" cy="950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36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Present On-Site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468880" cy="109728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36192"/>
            <a:ext cx="2468880" cy="950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4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Late Arrivals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463040"/>
            <a:ext cx="2468880" cy="109728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536192"/>
            <a:ext cx="2468880" cy="950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</a:defRPr>
            </a:pPr>
            <a:r>
              <a:t>2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Approved WFH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43200"/>
            <a:ext cx="5212080" cy="34747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274320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LIVE WORKFORCE TELEMETRY CARDS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00400"/>
            <a:ext cx="49377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Real-Time Presence Tracker: </a:t>
            </a:r>
            <a:r>
              <a:rPr sz="1000">
                <a:solidFill>
                  <a:srgbClr val="CBD5E1"/>
                </a:solidFill>
              </a:rPr>
              <a:t>Live counts of present, late, WFH, on-leave, and absent personnel.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Punctuality Index: </a:t>
            </a:r>
            <a:r>
              <a:rPr sz="1000">
                <a:solidFill>
                  <a:srgbClr val="CBD5E1"/>
                </a:solidFill>
              </a:rPr>
              <a:t>Automated percentage score measuring organization-wide arrival punctuality.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WFH Quota Usage: </a:t>
            </a:r>
            <a:r>
              <a:rPr sz="1000">
                <a:solidFill>
                  <a:srgbClr val="CBD5E1"/>
                </a:solidFill>
              </a:rPr>
              <a:t>Visual gauge tracking current day WFH consumption against the 5-employee cap.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5212080" cy="34747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274320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INTERACTIVE ANALYTICAL CHARTS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200400"/>
            <a:ext cx="49377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Weekly Attendance Trends: </a:t>
            </a:r>
            <a:r>
              <a:rPr sz="1000">
                <a:solidFill>
                  <a:srgbClr val="CBD5E1"/>
                </a:solidFill>
              </a:rPr>
              <a:t>Recharts area chart tracking daily attendance patterns over past 30 days.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Departmental Heatmap: </a:t>
            </a:r>
            <a:r>
              <a:rPr sz="1000">
                <a:solidFill>
                  <a:srgbClr val="CBD5E1"/>
                </a:solidFill>
              </a:rPr>
              <a:t>Bar chart breaking down attendance performance by Engineering, Product, HR, and Sales.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Recent Activity Feed: </a:t>
            </a:r>
            <a:r>
              <a:rPr sz="1000">
                <a:solidFill>
                  <a:srgbClr val="CBD5E1"/>
                </a:solidFill>
              </a:rPr>
              <a:t>Real-time stream of employee check-ins with avatar photos and timestamps.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ATTENDANCE SHEET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31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Admin Web: Real-Time Departmental Attendance 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1072865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665"/>
                <a:gridCol w="1532665"/>
                <a:gridCol w="1532665"/>
                <a:gridCol w="1532665"/>
                <a:gridCol w="1532665"/>
                <a:gridCol w="1532665"/>
                <a:gridCol w="1532665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Dept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Check-In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Check-Out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Aarav Sharma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09:12 AM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--:--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PRESENT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OFFICE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Edit / Audit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Priya Patel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09:41 AM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--:--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LATE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OFFICE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Edit / Audit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Kavita Reddy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09:05 AM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18:02 PM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PRESENT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WFH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Edit / Audit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Rohan Verma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--:--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--:--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ABSENT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Manual Punch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297680"/>
            <a:ext cx="5212080" cy="1920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MULTI-CRITERIA FILTERING &amp;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54880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Live Name/ID Search: </a:t>
            </a:r>
            <a:r>
              <a:rPr sz="1000">
                <a:solidFill>
                  <a:srgbClr val="CBD5E1"/>
                </a:solidFill>
              </a:rPr>
              <a:t>Instant search filtering by employee name or ID.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Department Dropdown: </a:t>
            </a:r>
            <a:r>
              <a:rPr sz="1000">
                <a:solidFill>
                  <a:srgbClr val="CBD5E1"/>
                </a:solidFill>
              </a:rPr>
              <a:t>Filter by Engineering, Product, HR, Finance, etc.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Status Toggles: </a:t>
            </a:r>
            <a:r>
              <a:rPr sz="1000">
                <a:solidFill>
                  <a:srgbClr val="CBD5E1"/>
                </a:solidFill>
              </a:rPr>
              <a:t>Filter by Present, Late, Half-Day, Absent, or WFH.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97680"/>
            <a:ext cx="5212080" cy="1920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429768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EXPORT &amp; REPORTING CAPABILITIES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754880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One-Click CSV / Excel Export: </a:t>
            </a:r>
            <a:r>
              <a:rPr sz="1000">
                <a:solidFill>
                  <a:srgbClr val="CBD5E1"/>
                </a:solidFill>
              </a:rPr>
              <a:t>Downloads full attendance sheet for payroll processing.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Audit Badge Indicator: </a:t>
            </a:r>
            <a:r>
              <a:rPr sz="1000">
                <a:solidFill>
                  <a:srgbClr val="CBD5E1"/>
                </a:solidFill>
              </a:rPr>
              <a:t>Displays icon on any record modified manually.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WORKFORCE DIRECTORY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32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Admin Web: Employee Directory &amp; Lifecycle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COMPLETE EMPLOYEE LIFECYCLE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Add New Employee: </a:t>
            </a:r>
            <a:r>
              <a:rPr sz="1000">
                <a:solidFill>
                  <a:srgbClr val="CBD5E1"/>
                </a:solidFill>
              </a:rPr>
              <a:t>Modal form collecting Name, Email, Department, Designation, Phone, and Shift.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Automated Account Provisioning: </a:t>
            </a:r>
            <a:r>
              <a:rPr sz="1000">
                <a:solidFill>
                  <a:srgbClr val="CBD5E1"/>
                </a:solidFill>
              </a:rPr>
              <a:t>Creates both User login credentials and Employee corporate profile.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Edit Employee Metadata: </a:t>
            </a:r>
            <a:r>
              <a:rPr sz="1000">
                <a:solidFill>
                  <a:srgbClr val="CBD5E1"/>
                </a:solidFill>
              </a:rPr>
              <a:t>Update phone numbers, shift timings, or departmental promotions in real time.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Deactivate / Reactivate: </a:t>
            </a:r>
            <a:r>
              <a:rPr sz="1000">
                <a:solidFill>
                  <a:srgbClr val="CBD5E1"/>
                </a:solidFill>
              </a:rPr>
              <a:t>Soft-deactivation toggle revoking mobile app login access while preserving historical punch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ENTERPRISE DIRECTORY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Unique ID Constraints: </a:t>
            </a:r>
            <a:r>
              <a:rPr sz="1000">
                <a:solidFill>
                  <a:srgbClr val="CBD5E1"/>
                </a:solidFill>
              </a:rPr>
              <a:t>Prevents duplicate Employee IDs or email addresses at database index level.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Avatar Synchronization: </a:t>
            </a:r>
            <a:r>
              <a:rPr sz="1000">
                <a:solidFill>
                  <a:srgbClr val="CBD5E1"/>
                </a:solidFill>
              </a:rPr>
              <a:t>Displays uploaded employee photos directly in the directory grid.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Role Boundaries: </a:t>
            </a:r>
            <a:r>
              <a:rPr sz="1000">
                <a:solidFill>
                  <a:srgbClr val="CBD5E1"/>
                </a:solidFill>
              </a:rPr>
              <a:t>HR Admins can manage employees; only Super Admins can manage HR Admins.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WFH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33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Multi-Stage WFH Approvals — Stage 1: HR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HR ADMIN REVIEW 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Incoming Request Queue: </a:t>
            </a:r>
            <a:r>
              <a:rPr sz="1000">
                <a:solidFill>
                  <a:srgbClr val="CBD5E1"/>
                </a:solidFill>
              </a:rPr>
              <a:t>HR navigates to `/approvals` to review all pending employee WFH applications.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Reason &amp; Document Assessment: </a:t>
            </a:r>
            <a:r>
              <a:rPr sz="1000">
                <a:solidFill>
                  <a:srgbClr val="CBD5E1"/>
                </a:solidFill>
              </a:rPr>
              <a:t>HR verifies justification (medical, personal) and checks attached documents.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Capacity Check: </a:t>
            </a:r>
            <a:r>
              <a:rPr sz="1000">
                <a:solidFill>
                  <a:srgbClr val="CBD5E1"/>
                </a:solidFill>
              </a:rPr>
              <a:t>HR monitors current approved quota for the requested date.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Decision Action: </a:t>
            </a:r>
            <a:r>
              <a:rPr sz="1000">
                <a:solidFill>
                  <a:srgbClr val="CBD5E1"/>
                </a:solidFill>
              </a:rPr>
              <a:t>HR clicks 'Approve Request' or 'Reject with Remarks'.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State Transition: </a:t>
            </a:r>
            <a:r>
              <a:rPr sz="1000">
                <a:solidFill>
                  <a:srgbClr val="CBD5E1"/>
                </a:solidFill>
              </a:rPr>
              <a:t>On approval, status shifts from `PENDING` to `HR_APPROVED`.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INTEGRITY &amp; ESCALATION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Audit Metadata: </a:t>
            </a:r>
            <a:r>
              <a:rPr sz="1000">
                <a:solidFill>
                  <a:srgbClr val="CBD5E1"/>
                </a:solidFill>
              </a:rPr>
              <a:t>Records `hrApprovedBy: req.user._id` and `hrDecisionDate: new Date()`.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No Premature Attendance: </a:t>
            </a:r>
            <a:r>
              <a:rPr sz="1000">
                <a:solidFill>
                  <a:srgbClr val="CBD5E1"/>
                </a:solidFill>
              </a:rPr>
              <a:t>Request remains inactive for attendance until Super Admin confirms.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Rejection Finality: </a:t>
            </a:r>
            <a:r>
              <a:rPr sz="1000">
                <a:solidFill>
                  <a:srgbClr val="CBD5E1"/>
                </a:solidFill>
              </a:rPr>
              <a:t>If HR rejects, request reaches final `REJECTED` state; employee notified immediately.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FINAL APPROVAL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34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Multi-Stage WFH Approvals — Stage 2: Super Admin Sign-Off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118872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5212080" cy="1042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</a:defRPr>
            </a:pPr>
            <a:r>
              <a:t>5 Max WFH / Day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Strict Capacity Enforcement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118872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36192"/>
            <a:ext cx="5212080" cy="1042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Dual Approval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HR Endorsement Required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5212080" cy="32918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SUPER ADMIN FINAL RATIFICATION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83280"/>
            <a:ext cx="49377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Prerequisite Enforcement: </a:t>
            </a:r>
            <a:r>
              <a:rPr sz="1000">
                <a:solidFill>
                  <a:srgbClr val="CBD5E1"/>
                </a:solidFill>
              </a:rPr>
              <a:t>Super Admin only sees requests that have successfully passed HR Review (`HR_APPROVED`).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Independent Check: </a:t>
            </a:r>
            <a:r>
              <a:rPr sz="1000">
                <a:solidFill>
                  <a:srgbClr val="CBD5E1"/>
                </a:solidFill>
              </a:rPr>
              <a:t>Ensures organization-wide balance between physical and remote presence.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Final Action: </a:t>
            </a:r>
            <a:r>
              <a:rPr sz="1000">
                <a:solidFill>
                  <a:srgbClr val="CBD5E1"/>
                </a:solidFill>
              </a:rPr>
              <a:t>Super Admin grants final approval; status shifts to `APPROVED`.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926080"/>
            <a:ext cx="5212080" cy="32918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292608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SYSTEM STATE CONSEQUENCES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383280"/>
            <a:ext cx="49377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Mobile Unlock: </a:t>
            </a:r>
            <a:r>
              <a:rPr sz="1000">
                <a:solidFill>
                  <a:srgbClr val="CBD5E1"/>
                </a:solidFill>
              </a:rPr>
              <a:t>Employee's mobile app enables remote 1-tap check-in for approved dates.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Daily Quota Consumption: </a:t>
            </a:r>
            <a:r>
              <a:rPr sz="1000">
                <a:solidFill>
                  <a:srgbClr val="CBD5E1"/>
                </a:solidFill>
              </a:rPr>
              <a:t>Approved slot permanently deducted from day's availability.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Attendance Sheet Marker: </a:t>
            </a:r>
            <a:r>
              <a:rPr sz="1000">
                <a:solidFill>
                  <a:srgbClr val="CBD5E1"/>
                </a:solidFill>
              </a:rPr>
              <a:t>Employee automatically marked with 'WFH' badge on the daily attendance sheet.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LEAVE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35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Admin Web: Leave Management &amp; Team Balances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ADMINISTRATIVE LEAVE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Centralized Leave Queue: </a:t>
            </a:r>
            <a:r>
              <a:rPr sz="1000">
                <a:solidFill>
                  <a:srgbClr val="CBD5E1"/>
                </a:solidFill>
              </a:rPr>
              <a:t>Displays all submitted Casual, Sick, and Earned leave requests across departments.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Team Calendar Overlap View: </a:t>
            </a:r>
            <a:r>
              <a:rPr sz="1000">
                <a:solidFill>
                  <a:srgbClr val="CBD5E1"/>
                </a:solidFill>
              </a:rPr>
              <a:t>Identifies concurrent leave requests within the same department to prevent coverage gaps.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Medical Certificate Inspector: </a:t>
            </a:r>
            <a:r>
              <a:rPr sz="1000">
                <a:solidFill>
                  <a:srgbClr val="CBD5E1"/>
                </a:solidFill>
              </a:rPr>
              <a:t>Direct preview of uploaded doctor notes or certificates.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Instant Approval / Rejection: </a:t>
            </a:r>
            <a:r>
              <a:rPr sz="1000">
                <a:solidFill>
                  <a:srgbClr val="CBD5E1"/>
                </a:solidFill>
              </a:rPr>
              <a:t>One-click approval updates employee leave balance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COMPLIANCE &amp; PAYROLL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Automated Balance Ledger: </a:t>
            </a:r>
            <a:r>
              <a:rPr sz="1000">
                <a:solidFill>
                  <a:srgbClr val="CBD5E1"/>
                </a:solidFill>
              </a:rPr>
              <a:t>Maintains real-time history of taken, pending, and remaining leaves.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Loss of Pay (LOP) Flagging: </a:t>
            </a:r>
            <a:r>
              <a:rPr sz="1000">
                <a:solidFill>
                  <a:srgbClr val="CBD5E1"/>
                </a:solidFill>
              </a:rPr>
              <a:t>Alerts managers if an employee applies for leave beyond available balances.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Audit History: </a:t>
            </a:r>
            <a:r>
              <a:rPr sz="1000">
                <a:solidFill>
                  <a:srgbClr val="CBD5E1"/>
                </a:solidFill>
              </a:rPr>
              <a:t>Logs identity of approving manager and decision timestamp.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SUPER ADMIN EXCLUSIVE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36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HR Admin Provisioning &amp; Role Guard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SUPER ADMIN PRIVILEGE ISOLATION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Exclusive Route Guard: </a:t>
            </a:r>
            <a:r>
              <a:rPr sz="1000">
                <a:solidFill>
                  <a:srgbClr val="CBD5E1"/>
                </a:solidFill>
              </a:rPr>
              <a:t>Route `/hr-admins` is strictly protected by `allowRoles('SUPER_ADMIN')` on backend and `ProtectedRoute` on frontend.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Unauthorized Access Rejection: </a:t>
            </a:r>
            <a:r>
              <a:rPr sz="1000">
                <a:solidFill>
                  <a:srgbClr val="CBD5E1"/>
                </a:solidFill>
              </a:rPr>
              <a:t>Any call by an HR Admin or Employee throws immediate HTTP 403 Forbidden.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Provisioning Modal: </a:t>
            </a:r>
            <a:r>
              <a:rPr sz="1000">
                <a:solidFill>
                  <a:srgbClr val="CBD5E1"/>
                </a:solidFill>
              </a:rPr>
              <a:t>Super Admin can onboard new HR Admins with email, password, and contact info.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One-Click Deactivation: </a:t>
            </a:r>
            <a:r>
              <a:rPr sz="1000">
                <a:solidFill>
                  <a:srgbClr val="CBD5E1"/>
                </a:solidFill>
              </a:rPr>
              <a:t>Super Admin can revoke HR Admin credentials instantly if roles 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ENVIRONMENT VARIABLE 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Primary Super Admin Root: </a:t>
            </a:r>
            <a:r>
              <a:rPr sz="1000">
                <a:solidFill>
                  <a:srgbClr val="CBD5E1"/>
                </a:solidFill>
              </a:rPr>
              <a:t>Super Admin authentication strictly verifies against `.env` configuration (`ADMIN_ID`, `ADMIN_PASS`).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Immutable Root Credentials: </a:t>
            </a:r>
            <a:r>
              <a:rPr sz="1000">
                <a:solidFill>
                  <a:srgbClr val="CBD5E1"/>
                </a:solidFill>
              </a:rPr>
              <a:t>Cannot be modified or compromised via web UI, guaranteeing master recovery.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Forensic Traceability: </a:t>
            </a:r>
            <a:r>
              <a:rPr sz="1000">
                <a:solidFill>
                  <a:srgbClr val="CBD5E1"/>
                </a:solidFill>
              </a:rPr>
              <a:t>Every HR account created or deactivated is logged in the immutable Audit collection.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FORENSIC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37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Forensic Attendance Corrections &amp; Audit Justifications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MANDATORY JUSTIFICATION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Manual Correction Modal: </a:t>
            </a:r>
            <a:r>
              <a:rPr sz="1000">
                <a:solidFill>
                  <a:srgbClr val="CBD5E1"/>
                </a:solidFill>
              </a:rPr>
              <a:t>Initiated when an employee forgets to scan or faces mobile hardware issues.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Status Adjustment: </a:t>
            </a:r>
            <a:r>
              <a:rPr sz="1000">
                <a:solidFill>
                  <a:srgbClr val="CBD5E1"/>
                </a:solidFill>
              </a:rPr>
              <a:t>Manager can update status from 'ABSENT' to 'PRESENT', 'LATE', or 'HALF_DAY'.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Time Override: </a:t>
            </a:r>
            <a:r>
              <a:rPr sz="1000">
                <a:solidFill>
                  <a:srgbClr val="CBD5E1"/>
                </a:solidFill>
              </a:rPr>
              <a:t>Optional manual entry of check-in and check-out timestamps.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Mandatory Reason Field: </a:t>
            </a:r>
            <a:r>
              <a:rPr sz="1000">
                <a:solidFill>
                  <a:srgbClr val="CBD5E1"/>
                </a:solidFill>
              </a:rPr>
              <a:t>Submission button is strictly disabled until manager enters a detailed justification note (min 10 characters).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PERMANENT AUDIT INSCRIPTION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Embedded Snapshot: </a:t>
            </a:r>
            <a:r>
              <a:rPr sz="1000">
                <a:solidFill>
                  <a:srgbClr val="CBD5E1"/>
                </a:solidFill>
              </a:rPr>
              <a:t>Pushes record into attendance document's `auditHistory` array: `{ modifiedBy, previousStatus, newStatus, reason, timestamp }`.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Global Audit Collection: </a:t>
            </a:r>
            <a:r>
              <a:rPr sz="1000">
                <a:solidFill>
                  <a:srgbClr val="CBD5E1"/>
                </a:solidFill>
              </a:rPr>
              <a:t>Simultaneously writes entry to system `AuditLog` collection.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Tamper-Proof Visual Flag: </a:t>
            </a:r>
            <a:r>
              <a:rPr sz="1000">
                <a:solidFill>
                  <a:srgbClr val="CBD5E1"/>
                </a:solidFill>
              </a:rPr>
              <a:t>A warning shield icon appears beside the record in attendance sheets, viewable by auditors.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SYSTEM POLICIES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38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Admin Web: Global Policy Configuration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Policy Parameter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Default Value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Configurable Range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Operational Impact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Office Start Time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09:00 AM IST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07:00 - 11:00 AM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Defines expected arrival and shift start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Check-In Cutoff Time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09:30 AM IST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Start Time + 15 to 60m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Boundary after which punches are marked LATE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Office End Time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18:00 PM IST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16:00 - 21:00 PM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Standard departure time for minimum hours calculation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Max WFH Employees / Day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5 Employees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1 to 50 / Unlimited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Enforces in-office collaboration and presence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Dynamic QR Expiry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18 Seconds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10 to 60 Seconds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Balances scanning ergonomics with anti-replay defense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COMMUNICATIONS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39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Admin Web: Organization Broadcasts &amp;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ORGANIZATION-WIDE BROADCASTS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Company Announcements: </a:t>
            </a:r>
            <a:r>
              <a:rPr sz="1000">
                <a:solidFill>
                  <a:srgbClr val="CBD5E1"/>
                </a:solidFill>
              </a:rPr>
              <a:t>Publish office notices (e.g. holiday declarations, policy updates, town halls).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Target Audience Targeting: </a:t>
            </a:r>
            <a:r>
              <a:rPr sz="1000">
                <a:solidFill>
                  <a:srgbClr val="CBD5E1"/>
                </a:solidFill>
              </a:rPr>
              <a:t>Broadcast to All Staff, Specific Departments (Engineering, Sales), or Managers.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Priority Flags: </a:t>
            </a:r>
            <a:r>
              <a:rPr sz="1000">
                <a:solidFill>
                  <a:srgbClr val="CBD5E1"/>
                </a:solidFill>
              </a:rPr>
              <a:t>Mark announcements as 'STANDARD', 'IMPORTANT', or 'CRITICAL' with color banners.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Instant Mobile Delivery: </a:t>
            </a:r>
            <a:r>
              <a:rPr sz="1000">
                <a:solidFill>
                  <a:srgbClr val="CBD5E1"/>
                </a:solidFill>
              </a:rPr>
              <a:t>Displays immediately in the employee mobile app alert inbox.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AUTOMATED WORKFLOW 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Approval Alerts: </a:t>
            </a:r>
            <a:r>
              <a:rPr sz="1000">
                <a:solidFill>
                  <a:srgbClr val="CBD5E1"/>
                </a:solidFill>
              </a:rPr>
              <a:t>Sends push alert when WFH or leave request is approved or rejected.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Late Arrival Warning: </a:t>
            </a:r>
            <a:r>
              <a:rPr sz="1000">
                <a:solidFill>
                  <a:srgbClr val="CBD5E1"/>
                </a:solidFill>
              </a:rPr>
              <a:t>Automated alert notifying employee when check-in crosses 09:30 AM cutoff.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Read Receipt Tracking: </a:t>
            </a:r>
            <a:r>
              <a:rPr sz="1000">
                <a:solidFill>
                  <a:srgbClr val="CBD5E1"/>
                </a:solidFill>
              </a:rPr>
              <a:t>Monitors which employees have read critical organization announcements.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API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40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REST API Architecture &amp; Endpoints Catalog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HTTP Method &amp; Endpoint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Access Role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Primary Parameters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Return Payload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POST /api/auth/login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{ email, password }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{ token: JWT, user }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POST /api/auth/verify-demo-otp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{ employeeId, otp: '8426' }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{ token: JWT, employee }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GET /api/qr/session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Public / Kiosk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{ officeLocation }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{ token, expiresAt, expirySeconds: 18 }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POST /api/attendance/check-in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Header: JWT, Body: { token }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{ status: 'PRESENT'/'LATE', checkIn }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POST /api/attendance/check-out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Header: JWT, Body: { token }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{ status, checkOut, workingHours }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POST /api/attendance/correct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Admin / HR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{ attendanceId, newStatus, reason }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{ success: true, auditHistory }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POST /api/wfh/approve-admin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Super Admin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{ requestId, remarks }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{ status: 'APPROVED' }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QUALITY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41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Verification &amp; Automated Testing Matrix: 100% 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Suite #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Validation Scope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Test Parameters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E5FF"/>
                          </a:solidFill>
                        </a:defRPr>
                      </a:pPr>
                      <a:r>
                        <a:t>Verification Outcome</a:t>
                      </a:r>
                    </a:p>
                  </a:txBody>
                  <a:tcPr>
                    <a:solidFill>
                      <a:srgbClr val="1E305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Test 1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Database Health &amp; Connection Pool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MongoDB replica connection &amp; read/write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PASSED (0ms delay)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Test 2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Asia/Kolkata Timezone Engine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24-hour IST time calculation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PASSED (Valid format)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Test 3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Policy Cutoff Evaluator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09:30:00 AM IST PRESENT vs LATE boundary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PASSED (Accurate)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Test 4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QR 18s Expiry &amp; Anti-Replay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Expired token rejected with HTTP 400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PASSED (Tamper-proof)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Test 5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Compound Index Duplicate Prevention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Duplicate check-in rejected with HTTP 409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PASSED (Zero duplicates)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Test 7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WFH 5-Employee Quota Enforcement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6th concurrent request blocked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PASSED (Enforced)</a:t>
                      </a:r>
                    </a:p>
                  </a:txBody>
                  <a:tcPr>
                    <a:solidFill>
                      <a:srgbClr val="0E15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Test 12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RBAC Super Admin HR Provisioning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HR Admin forbidden from adding HR (403)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PASSED (Role secured)</a:t>
                      </a:r>
                    </a:p>
                  </a:txBody>
                  <a:tcPr>
                    <a:solidFill>
                      <a:srgbClr val="141D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FORENSIC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42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Forensic Audit Trail &amp; Regulatory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AUDIT TRAIL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Append-Only Collection: </a:t>
            </a:r>
            <a:r>
              <a:rPr sz="1000">
                <a:solidFill>
                  <a:srgbClr val="CBD5E1"/>
                </a:solidFill>
              </a:rPr>
              <a:t>MongoDB `AuditLog` collection operates under strict append-only constraints; no updates or deletes permitted.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Actor Identification: </a:t>
            </a:r>
            <a:r>
              <a:rPr sz="1000">
                <a:solidFill>
                  <a:srgbClr val="CBD5E1"/>
                </a:solidFill>
              </a:rPr>
              <a:t>Every entry links actor ID, email, assigned role, and client IP address.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State Differential Logging: </a:t>
            </a:r>
            <a:r>
              <a:rPr sz="1000">
                <a:solidFill>
                  <a:srgbClr val="CBD5E1"/>
                </a:solidFill>
              </a:rPr>
              <a:t>Captures exact before-and-after JSON snapshots for all entity modifications.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Tamper-Proof Timestamps: </a:t>
            </a:r>
            <a:r>
              <a:rPr sz="1000">
                <a:solidFill>
                  <a:srgbClr val="CBD5E1"/>
                </a:solidFill>
              </a:rPr>
              <a:t>Server NTP timestamp assigned at insertion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STATUTORY &amp; LABOR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Indian Labor Law Alignment: </a:t>
            </a:r>
            <a:r>
              <a:rPr sz="1000">
                <a:solidFill>
                  <a:srgbClr val="CBD5E1"/>
                </a:solidFill>
              </a:rPr>
              <a:t>Accurate records of work hours, overtime, and leave entitlements compliant with Indian Factories &amp; Shops Acts.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Payroll Audit Readiness: </a:t>
            </a:r>
            <a:r>
              <a:rPr sz="1000">
                <a:solidFill>
                  <a:srgbClr val="CBD5E1"/>
                </a:solidFill>
              </a:rPr>
              <a:t>Provides forensic verification for accounting teams during wage disbursement.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Security Audit Export: </a:t>
            </a:r>
            <a:r>
              <a:rPr sz="1000">
                <a:solidFill>
                  <a:srgbClr val="CBD5E1"/>
                </a:solidFill>
              </a:rPr>
              <a:t>Exportable audit logs for ISO 27001 and SOC 2 enterprise compliance assessments.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DEVOPS &amp; CLOUD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43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DevOps, Deployment &amp; Infrastructure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PRODUCTION BUILDS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Admin Web Build: </a:t>
            </a:r>
            <a:r>
              <a:rPr sz="1000">
                <a:solidFill>
                  <a:srgbClr val="CBD5E1"/>
                </a:solidFill>
              </a:rPr>
              <a:t>Vite production minification producing optimized 66 kB CSS and 806 kB JS bundle with zero errors.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Mobile Export: </a:t>
            </a:r>
            <a:r>
              <a:rPr sz="1000">
                <a:solidFill>
                  <a:srgbClr val="CBD5E1"/>
                </a:solidFill>
              </a:rPr>
              <a:t>Expo 58 Metro bundler packaging 399 modules with full iOS &amp; Android readiness.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Zero Comment Policy: </a:t>
            </a:r>
            <a:r>
              <a:rPr sz="1000">
                <a:solidFill>
                  <a:srgbClr val="CBD5E1"/>
                </a:solidFill>
              </a:rPr>
              <a:t>Strict code cleanliness standard enforced across all backend and frontend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ENVIRONMENT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Strict .env Separation: </a:t>
            </a:r>
            <a:r>
              <a:rPr sz="1000">
                <a:solidFill>
                  <a:srgbClr val="CBD5E1"/>
                </a:solidFill>
              </a:rPr>
              <a:t>Sensitive credentials (ADMIN_ID, ADMIN_PASS, JWT_SECRET, MONGO_URI) strictly managed in `.env`.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Never Committed: </a:t>
            </a:r>
            <a:r>
              <a:rPr sz="1000">
                <a:solidFill>
                  <a:srgbClr val="CBD5E1"/>
                </a:solidFill>
              </a:rPr>
              <a:t>Environment configuration protected by `.gitignore`.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CORS Security: </a:t>
            </a:r>
            <a:r>
              <a:rPr sz="1000">
                <a:solidFill>
                  <a:srgbClr val="CBD5E1"/>
                </a:solidFill>
              </a:rPr>
              <a:t>Allowed origins restricted to verified corporate domains.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CONTAINERIZATION 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Docker Ready: </a:t>
            </a:r>
            <a:r>
              <a:rPr sz="1000">
                <a:solidFill>
                  <a:srgbClr val="CBD5E1"/>
                </a:solidFill>
              </a:rPr>
              <a:t>Lightweight multi-stage Dockerfiles for Node backend and Nginx static web serving.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Healthcheck Endpoints: </a:t>
            </a:r>
            <a:r>
              <a:rPr sz="1000">
                <a:solidFill>
                  <a:srgbClr val="CBD5E1"/>
                </a:solidFill>
              </a:rPr>
              <a:t>Built-in `/api/health` monitoring connection pool and memory usage.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Cloud Agnostic: </a:t>
            </a:r>
            <a:r>
              <a:rPr sz="1000">
                <a:solidFill>
                  <a:srgbClr val="CBD5E1"/>
                </a:solidFill>
              </a:rPr>
              <a:t>Runs on AWS ECS, GCP Cloud Run, Azure App Service, or on-premise hardware.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PRODUCT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44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Future Roadmap: Advanced Enterprise Innovations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PHASE 1: BIOMETRICS &amp; GEOFENCE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GPS Geofence Validation: </a:t>
            </a:r>
            <a:r>
              <a:rPr sz="1000">
                <a:solidFill>
                  <a:srgbClr val="CBD5E1"/>
                </a:solidFill>
              </a:rPr>
              <a:t>Enforce physical GPS bounding box (&lt; 50 meters from office entrance) during QR scan.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On-Device Face ID: </a:t>
            </a:r>
            <a:r>
              <a:rPr sz="1000">
                <a:solidFill>
                  <a:srgbClr val="CBD5E1"/>
                </a:solidFill>
              </a:rPr>
              <a:t>Biometric verification on mobile scanner matching live facial features with employee profile photo.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PHASE 2: AI &amp;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Predictive Attrition &amp; Absenteeism: </a:t>
            </a:r>
            <a:r>
              <a:rPr sz="1000">
                <a:solidFill>
                  <a:srgbClr val="CBD5E1"/>
                </a:solidFill>
              </a:rPr>
              <a:t>Machine learning models detecting burnout patterns and chronic Monday/Friday absences.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Smart Shift Scheduling: </a:t>
            </a:r>
            <a:r>
              <a:rPr sz="1000">
                <a:solidFill>
                  <a:srgbClr val="CBD5E1"/>
                </a:solidFill>
              </a:rPr>
              <a:t>Automated roster allocation based on project demands and employee preferences.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3832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PHASE 3: ERP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920240"/>
            <a:ext cx="3108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Automated Payroll Sync: </a:t>
            </a:r>
            <a:r>
              <a:rPr sz="1000">
                <a:solidFill>
                  <a:srgbClr val="CBD5E1"/>
                </a:solidFill>
              </a:rPr>
              <a:t>Direct webhooks to SAP, Workday, QuickBooks, and RazorpayX Payroll for seamless salary calculation.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Slack &amp; MS Teams Bots: </a:t>
            </a:r>
            <a:r>
              <a:rPr sz="1000">
                <a:solidFill>
                  <a:srgbClr val="CBD5E1"/>
                </a:solidFill>
              </a:rPr>
              <a:t>1-tap leave and WFH approvals directly inside enterprise team chat channels.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FF"/>
                </a:solidFill>
              </a:defRPr>
            </a:pPr>
            <a:r>
              <a:t>EXECUTIVE SIGN-OFF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218895" cy="292608"/>
          </a:xfrm>
          <a:prstGeom prst="roundRect">
            <a:avLst/>
          </a:prstGeom>
          <a:solidFill>
            <a:srgbClr val="18264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45 /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Enterprise Deliverables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VorldX Industries Private Limited  •  Confidential &amp; Proprietary  •  Enterprise Attendance &amp; Workforce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118872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3383280" cy="1042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E5FF"/>
                </a:solidFill>
              </a:defRPr>
            </a:pPr>
            <a:r>
              <a:t>45 Slides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Exhaustive Specification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83280" cy="118872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36192"/>
            <a:ext cx="3383280" cy="1042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14 Suites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100% Verification Tests Passed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1188720"/>
          </a:xfrm>
          <a:prstGeom prst="roundRect">
            <a:avLst/>
          </a:prstGeom>
          <a:solidFill>
            <a:srgbClr val="121C3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536192"/>
            <a:ext cx="3383280" cy="1042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3 Clients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Web, Mobile &amp; Office Kiosk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5212080" cy="32918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KEY DELIVERABLES RECAP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83280"/>
            <a:ext cx="49377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1. Full-Stack Codebase: </a:t>
            </a:r>
            <a:r>
              <a:rPr sz="1000">
                <a:solidFill>
                  <a:srgbClr val="CBD5E1"/>
                </a:solidFill>
              </a:rPr>
              <a:t>Production-verified Admin Web, Employee Mobile App, Kiosk Screen, and Express API.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2. Cryptographic Security: </a:t>
            </a:r>
            <a:r>
              <a:rPr sz="1000">
                <a:solidFill>
                  <a:srgbClr val="CBD5E1"/>
                </a:solidFill>
              </a:rPr>
              <a:t>Zero buddy-punching guaranteed by 18s rotating QR sessions and compound indexes.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3. Hybrid Governance: </a:t>
            </a:r>
            <a:r>
              <a:rPr sz="1000">
                <a:solidFill>
                  <a:srgbClr val="CBD5E1"/>
                </a:solidFill>
              </a:rPr>
              <a:t>Streamlined two-tier WFH approvals enforcing a 5/day daily quota.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4. Immutable Traceability: </a:t>
            </a:r>
            <a:r>
              <a:rPr sz="1000">
                <a:solidFill>
                  <a:srgbClr val="CBD5E1"/>
                </a:solidFill>
              </a:rPr>
              <a:t>Forensic audit logging for all managerial adjustments.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26080"/>
            <a:ext cx="5212080" cy="32918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5212080" cy="411480"/>
          </a:xfrm>
          <a:prstGeom prst="roundRect">
            <a:avLst/>
          </a:prstGeom>
          <a:solidFill>
            <a:srgbClr val="1C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ENTERPRISE SIGN-OFF &amp; CONTACTS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383280"/>
            <a:ext cx="49377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Organization: </a:t>
            </a:r>
            <a:r>
              <a:rPr sz="1000">
                <a:solidFill>
                  <a:srgbClr val="CBD5E1"/>
                </a:solidFill>
              </a:rPr>
              <a:t>VorldX Industries Private Limited (CIN: U62099UP2026PTC245598)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Headquarters: </a:t>
            </a:r>
            <a:r>
              <a:rPr sz="1000">
                <a:solidFill>
                  <a:srgbClr val="CBD5E1"/>
                </a:solidFill>
              </a:rPr>
              <a:t>Lucknow, Uttar Pradesh, India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Engineering Review: </a:t>
            </a:r>
            <a:r>
              <a:rPr sz="1000">
                <a:solidFill>
                  <a:srgbClr val="CBD5E1"/>
                </a:solidFill>
              </a:rPr>
              <a:t>Completed &amp; Production Verified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Official Contact: </a:t>
            </a:r>
            <a:r>
              <a:rPr sz="1000">
                <a:solidFill>
                  <a:srgbClr val="CBD5E1"/>
                </a:solidFill>
              </a:rPr>
              <a:t>hello@vorldx.com  •  contact@vorldx.com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Document Status: </a:t>
            </a:r>
            <a:r>
              <a:rPr sz="1000">
                <a:solidFill>
                  <a:srgbClr val="CBD5E1"/>
                </a:solidFill>
              </a:rPr>
              <a:t>Final Approved Architectural Deliverable (PDF &amp; PPTX)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